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57" r:id="rId2"/>
    <p:sldId id="258" r:id="rId3"/>
    <p:sldId id="261" r:id="rId4"/>
    <p:sldId id="271" r:id="rId5"/>
    <p:sldId id="269" r:id="rId6"/>
    <p:sldId id="278" r:id="rId7"/>
    <p:sldId id="280" r:id="rId8"/>
    <p:sldId id="282" r:id="rId9"/>
    <p:sldId id="283" r:id="rId10"/>
    <p:sldId id="279" r:id="rId11"/>
    <p:sldId id="284" r:id="rId12"/>
    <p:sldId id="285" r:id="rId13"/>
    <p:sldId id="277" r:id="rId14"/>
    <p:sldId id="286"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dy, Alison" initials="HA" lastIdx="5" clrIdx="0">
    <p:extLst>
      <p:ext uri="{19B8F6BF-5375-455C-9EA6-DF929625EA0E}">
        <p15:presenceInfo xmlns:p15="http://schemas.microsoft.com/office/powerpoint/2012/main" userId="S::alison.hardy@ntu.ac.uk::c558711c-e4d2-46f9-9a7a-5e4d3b569ac4" providerId="AD"/>
      </p:ext>
    </p:extLst>
  </p:cmAuthor>
  <p:cmAuthor id="2" name="McLain, Matt" initials="MM" lastIdx="12" clrIdx="1">
    <p:extLst>
      <p:ext uri="{19B8F6BF-5375-455C-9EA6-DF929625EA0E}">
        <p15:presenceInfo xmlns:p15="http://schemas.microsoft.com/office/powerpoint/2012/main" userId="S::eclmmcl2@ljmu.ac.uk::d319407d-aa9b-4bc8-83f5-d4f7740657f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65"/>
    <p:restoredTop sz="86803"/>
  </p:normalViewPr>
  <p:slideViewPr>
    <p:cSldViewPr snapToGrid="0" snapToObjects="1">
      <p:cViewPr varScale="1">
        <p:scale>
          <a:sx n="106" d="100"/>
          <a:sy n="106" d="100"/>
        </p:scale>
        <p:origin x="51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0-08-10T09:25:09.369" idx="7">
    <p:pos x="10" y="10"/>
    <p:text>I have added "D&amp;T" and changed "educational" to "education" on this slide - does this refer to education in its curriculum intentions sense or learning. It might benefit from either rewording or some explanatory notes in the presenter's notes box. </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7847F5-64F4-FC46-B7E7-339AE175D16C}" type="datetimeFigureOut">
              <a:rPr lang="en-GB" smtClean="0"/>
              <a:t>28/08/2020</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E1AF1B-6E0C-B24C-A1A2-F37BCA2397B6}" type="slidenum">
              <a:rPr lang="en-GB" smtClean="0"/>
              <a:t>‹#›</a:t>
            </a:fld>
            <a:endParaRPr lang="en-GB"/>
          </a:p>
        </p:txBody>
      </p:sp>
    </p:spTree>
    <p:extLst>
      <p:ext uri="{BB962C8B-B14F-4D97-AF65-F5344CB8AC3E}">
        <p14:creationId xmlns:p14="http://schemas.microsoft.com/office/powerpoint/2010/main" val="494359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Image taken from: </a:t>
            </a:r>
            <a:r>
              <a:rPr lang="en-GB" sz="1200" kern="1200" dirty="0">
                <a:solidFill>
                  <a:schemeClr val="tx1"/>
                </a:solidFill>
                <a:effectLst/>
                <a:latin typeface="+mn-lt"/>
                <a:ea typeface="+mn-ea"/>
                <a:cs typeface="+mn-cs"/>
              </a:rPr>
              <a:t>https://</a:t>
            </a:r>
            <a:r>
              <a:rPr lang="en-GB" sz="1200" kern="1200" dirty="0" err="1">
                <a:solidFill>
                  <a:schemeClr val="tx1"/>
                </a:solidFill>
                <a:effectLst/>
                <a:latin typeface="+mn-lt"/>
                <a:ea typeface="+mn-ea"/>
                <a:cs typeface="+mn-cs"/>
              </a:rPr>
              <a:t>www.routledge.com</a:t>
            </a:r>
            <a:r>
              <a:rPr lang="en-GB" sz="1200" kern="1200" dirty="0">
                <a:solidFill>
                  <a:schemeClr val="tx1"/>
                </a:solidFill>
                <a:effectLst/>
                <a:latin typeface="+mn-lt"/>
                <a:ea typeface="+mn-ea"/>
                <a:cs typeface="+mn-cs"/>
              </a:rPr>
              <a:t>/Learning-to-Teach-Design-and-Technology-in-the-Secondary-School-A-Companion/Hardy/p/book/9780367336813 </a:t>
            </a:r>
          </a:p>
          <a:p>
            <a:endParaRPr lang="en-GB" dirty="0"/>
          </a:p>
        </p:txBody>
      </p:sp>
      <p:sp>
        <p:nvSpPr>
          <p:cNvPr id="4" name="Slide Number Placeholder 3"/>
          <p:cNvSpPr>
            <a:spLocks noGrp="1"/>
          </p:cNvSpPr>
          <p:nvPr>
            <p:ph type="sldNum" sz="quarter" idx="5"/>
          </p:nvPr>
        </p:nvSpPr>
        <p:spPr/>
        <p:txBody>
          <a:bodyPr/>
          <a:lstStyle/>
          <a:p>
            <a:fld id="{05E1AF1B-6E0C-B24C-A1A2-F37BCA2397B6}" type="slidenum">
              <a:rPr lang="en-GB" smtClean="0"/>
              <a:t>1</a:t>
            </a:fld>
            <a:endParaRPr lang="en-GB"/>
          </a:p>
        </p:txBody>
      </p:sp>
    </p:spTree>
    <p:extLst>
      <p:ext uri="{BB962C8B-B14F-4D97-AF65-F5344CB8AC3E}">
        <p14:creationId xmlns:p14="http://schemas.microsoft.com/office/powerpoint/2010/main" val="1591256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5E1AF1B-6E0C-B24C-A1A2-F37BCA2397B6}" type="slidenum">
              <a:rPr lang="en-GB" smtClean="0"/>
              <a:t>2</a:t>
            </a:fld>
            <a:endParaRPr lang="en-GB"/>
          </a:p>
        </p:txBody>
      </p:sp>
    </p:spTree>
    <p:extLst>
      <p:ext uri="{BB962C8B-B14F-4D97-AF65-F5344CB8AC3E}">
        <p14:creationId xmlns:p14="http://schemas.microsoft.com/office/powerpoint/2010/main" val="1258215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There is overlap and convergence between the academic and vocation routes stages, but here they are used to simply explain the two main routes that occur immediately post-16.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Ask the students to reflect on the route they took on their own post-16 journey. How did they get here? </a:t>
            </a: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dirty="0"/>
          </a:p>
          <a:p>
            <a:endParaRPr lang="en-US" dirty="0"/>
          </a:p>
        </p:txBody>
      </p:sp>
      <p:sp>
        <p:nvSpPr>
          <p:cNvPr id="4" name="Slide Number Placeholder 3"/>
          <p:cNvSpPr>
            <a:spLocks noGrp="1"/>
          </p:cNvSpPr>
          <p:nvPr>
            <p:ph type="sldNum" sz="quarter" idx="5"/>
          </p:nvPr>
        </p:nvSpPr>
        <p:spPr/>
        <p:txBody>
          <a:bodyPr/>
          <a:lstStyle/>
          <a:p>
            <a:fld id="{05E1AF1B-6E0C-B24C-A1A2-F37BCA2397B6}" type="slidenum">
              <a:rPr lang="en-GB" smtClean="0"/>
              <a:t>5</a:t>
            </a:fld>
            <a:endParaRPr lang="en-GB"/>
          </a:p>
        </p:txBody>
      </p:sp>
    </p:spTree>
    <p:extLst>
      <p:ext uri="{BB962C8B-B14F-4D97-AF65-F5344CB8AC3E}">
        <p14:creationId xmlns:p14="http://schemas.microsoft.com/office/powerpoint/2010/main" val="3128702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Diuscss</a:t>
            </a:r>
            <a:r>
              <a:rPr lang="en-US" dirty="0"/>
              <a:t> how they can help pupils think about the choices open to them and value the choices they make.</a:t>
            </a:r>
          </a:p>
        </p:txBody>
      </p:sp>
      <p:sp>
        <p:nvSpPr>
          <p:cNvPr id="4" name="Slide Number Placeholder 3"/>
          <p:cNvSpPr>
            <a:spLocks noGrp="1"/>
          </p:cNvSpPr>
          <p:nvPr>
            <p:ph type="sldNum" sz="quarter" idx="5"/>
          </p:nvPr>
        </p:nvSpPr>
        <p:spPr/>
        <p:txBody>
          <a:bodyPr/>
          <a:lstStyle/>
          <a:p>
            <a:fld id="{05E1AF1B-6E0C-B24C-A1A2-F37BCA2397B6}" type="slidenum">
              <a:rPr lang="en-GB" smtClean="0"/>
              <a:t>6</a:t>
            </a:fld>
            <a:endParaRPr lang="en-GB"/>
          </a:p>
        </p:txBody>
      </p:sp>
    </p:spTree>
    <p:extLst>
      <p:ext uri="{BB962C8B-B14F-4D97-AF65-F5344CB8AC3E}">
        <p14:creationId xmlns:p14="http://schemas.microsoft.com/office/powerpoint/2010/main" val="3585471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Image taken from: </a:t>
            </a:r>
            <a:r>
              <a:rPr lang="en-GB" sz="1200" kern="1200" dirty="0">
                <a:solidFill>
                  <a:schemeClr val="tx1"/>
                </a:solidFill>
                <a:effectLst/>
                <a:latin typeface="+mn-lt"/>
                <a:ea typeface="+mn-ea"/>
                <a:cs typeface="+mn-cs"/>
              </a:rPr>
              <a:t>https://</a:t>
            </a:r>
            <a:r>
              <a:rPr lang="en-GB" sz="1200" kern="1200" dirty="0" err="1">
                <a:solidFill>
                  <a:schemeClr val="tx1"/>
                </a:solidFill>
                <a:effectLst/>
                <a:latin typeface="+mn-lt"/>
                <a:ea typeface="+mn-ea"/>
                <a:cs typeface="+mn-cs"/>
              </a:rPr>
              <a:t>www.routledge.com</a:t>
            </a:r>
            <a:r>
              <a:rPr lang="en-GB" sz="1200" kern="1200" dirty="0">
                <a:solidFill>
                  <a:schemeClr val="tx1"/>
                </a:solidFill>
                <a:effectLst/>
                <a:latin typeface="+mn-lt"/>
                <a:ea typeface="+mn-ea"/>
                <a:cs typeface="+mn-cs"/>
              </a:rPr>
              <a:t>/Learning-to-Teach-Design-and-Technology-in-the-Secondary-School-A-Companion/Hardy/p/book/9780367336813 </a:t>
            </a:r>
          </a:p>
          <a:p>
            <a:endParaRPr lang="en-GB"/>
          </a:p>
        </p:txBody>
      </p:sp>
      <p:sp>
        <p:nvSpPr>
          <p:cNvPr id="4" name="Slide Number Placeholder 3"/>
          <p:cNvSpPr>
            <a:spLocks noGrp="1"/>
          </p:cNvSpPr>
          <p:nvPr>
            <p:ph type="sldNum" sz="quarter" idx="5"/>
          </p:nvPr>
        </p:nvSpPr>
        <p:spPr/>
        <p:txBody>
          <a:bodyPr/>
          <a:lstStyle/>
          <a:p>
            <a:fld id="{05E1AF1B-6E0C-B24C-A1A2-F37BCA2397B6}" type="slidenum">
              <a:rPr lang="en-GB" smtClean="0"/>
              <a:t>14</a:t>
            </a:fld>
            <a:endParaRPr lang="en-GB"/>
          </a:p>
        </p:txBody>
      </p:sp>
    </p:spTree>
    <p:extLst>
      <p:ext uri="{BB962C8B-B14F-4D97-AF65-F5344CB8AC3E}">
        <p14:creationId xmlns:p14="http://schemas.microsoft.com/office/powerpoint/2010/main" val="19887225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95F095C-0D0B-F345-973A-6834753C8440}"/>
              </a:ext>
            </a:extLst>
          </p:cNvPr>
          <p:cNvPicPr>
            <a:picLocks noChangeAspect="1"/>
          </p:cNvPicPr>
          <p:nvPr userDrawn="1"/>
        </p:nvPicPr>
        <p:blipFill>
          <a:blip r:embed="rId2"/>
          <a:stretch>
            <a:fillRect/>
          </a:stretch>
        </p:blipFill>
        <p:spPr>
          <a:xfrm>
            <a:off x="535776" y="655880"/>
            <a:ext cx="3589182" cy="5074360"/>
          </a:xfrm>
          <a:prstGeom prst="rect">
            <a:avLst/>
          </a:prstGeom>
          <a:ln>
            <a:noFill/>
          </a:ln>
          <a:effectLst>
            <a:outerShdw blurRad="292100" dist="139700" dir="2700000" algn="tl" rotWithShape="0">
              <a:srgbClr val="333333">
                <a:alpha val="65000"/>
              </a:srgbClr>
            </a:outerShdw>
          </a:effectLst>
        </p:spPr>
      </p:pic>
      <p:sp>
        <p:nvSpPr>
          <p:cNvPr id="3" name="Subtitle 2"/>
          <p:cNvSpPr>
            <a:spLocks noGrp="1"/>
          </p:cNvSpPr>
          <p:nvPr>
            <p:ph type="subTitle" idx="1" hasCustomPrompt="1"/>
          </p:nvPr>
        </p:nvSpPr>
        <p:spPr>
          <a:xfrm>
            <a:off x="4417886" y="3501577"/>
            <a:ext cx="4190335" cy="878216"/>
          </a:xfrm>
        </p:spPr>
        <p:txBody>
          <a:bodyPr anchor="t">
            <a:normAutofit/>
          </a:bodyPr>
          <a:lstStyle>
            <a:lvl1pPr marL="0" indent="0" algn="l">
              <a:lnSpc>
                <a:spcPct val="110000"/>
              </a:lnSpc>
              <a:spcBef>
                <a:spcPts val="0"/>
              </a:spcBef>
              <a:buNone/>
              <a:defRPr sz="16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author, institution and email</a:t>
            </a:r>
            <a:endParaRPr lang="en-US" dirty="0"/>
          </a:p>
        </p:txBody>
      </p:sp>
      <p:sp>
        <p:nvSpPr>
          <p:cNvPr id="2" name="Title 1"/>
          <p:cNvSpPr>
            <a:spLocks noGrp="1"/>
          </p:cNvSpPr>
          <p:nvPr>
            <p:ph type="ctrTitle" hasCustomPrompt="1"/>
          </p:nvPr>
        </p:nvSpPr>
        <p:spPr>
          <a:xfrm>
            <a:off x="4417886" y="1751154"/>
            <a:ext cx="4190335" cy="1424648"/>
          </a:xfrm>
        </p:spPr>
        <p:txBody>
          <a:bodyPr anchor="t">
            <a:normAutofit/>
          </a:bodyPr>
          <a:lstStyle>
            <a:lvl1pPr algn="l">
              <a:defRPr sz="3600" b="1" i="0">
                <a:latin typeface="Calibri" panose="020F0502020204030204" pitchFamily="34" charset="0"/>
                <a:cs typeface="Calibri" panose="020F0502020204030204" pitchFamily="34" charset="0"/>
              </a:defRPr>
            </a:lvl1pPr>
          </a:lstStyle>
          <a:p>
            <a:r>
              <a:rPr lang="en-GB" dirty="0"/>
              <a:t>Click to edit Chapter</a:t>
            </a:r>
            <a:endParaRPr lang="en-US" dirty="0"/>
          </a:p>
        </p:txBody>
      </p:sp>
      <p:sp>
        <p:nvSpPr>
          <p:cNvPr id="11" name="Text Placeholder 10">
            <a:extLst>
              <a:ext uri="{FF2B5EF4-FFF2-40B4-BE49-F238E27FC236}">
                <a16:creationId xmlns:a16="http://schemas.microsoft.com/office/drawing/2014/main" id="{77B60623-25F5-0C42-8D7C-8EC0847F05BE}"/>
              </a:ext>
            </a:extLst>
          </p:cNvPr>
          <p:cNvSpPr>
            <a:spLocks noGrp="1"/>
          </p:cNvSpPr>
          <p:nvPr>
            <p:ph type="body" sz="quarter" idx="13" hasCustomPrompt="1"/>
          </p:nvPr>
        </p:nvSpPr>
        <p:spPr>
          <a:xfrm>
            <a:off x="4417888" y="655880"/>
            <a:ext cx="4190335" cy="772228"/>
          </a:xfrm>
        </p:spPr>
        <p:txBody>
          <a:bodyPr anchor="t">
            <a:normAutofit/>
          </a:bodyPr>
          <a:lstStyle>
            <a:lvl1pPr marL="0" indent="0" algn="l">
              <a:buNone/>
              <a:defRPr sz="2400">
                <a:solidFill>
                  <a:schemeClr val="bg2">
                    <a:lumMod val="2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Click to edit Part</a:t>
            </a:r>
          </a:p>
        </p:txBody>
      </p:sp>
      <p:sp>
        <p:nvSpPr>
          <p:cNvPr id="18" name="Rectangle 17">
            <a:extLst>
              <a:ext uri="{FF2B5EF4-FFF2-40B4-BE49-F238E27FC236}">
                <a16:creationId xmlns:a16="http://schemas.microsoft.com/office/drawing/2014/main" id="{CF35F5AC-25B7-E24B-9D32-91833FA4F0A0}"/>
              </a:ext>
            </a:extLst>
          </p:cNvPr>
          <p:cNvSpPr/>
          <p:nvPr userDrawn="1"/>
        </p:nvSpPr>
        <p:spPr>
          <a:xfrm>
            <a:off x="535776" y="6341192"/>
            <a:ext cx="7885209" cy="246221"/>
          </a:xfrm>
          <a:prstGeom prst="rect">
            <a:avLst/>
          </a:prstGeom>
        </p:spPr>
        <p:txBody>
          <a:bodyPr wrap="square">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000" dirty="0">
                <a:solidFill>
                  <a:schemeClr val="bg2">
                    <a:lumMod val="50000"/>
                  </a:schemeClr>
                </a:solidFill>
                <a:latin typeface="+mj-lt"/>
              </a:rPr>
              <a:t>Hardy, A. (Ed.) (2021). </a:t>
            </a:r>
            <a:r>
              <a:rPr lang="en-GB" sz="1000" i="1" dirty="0">
                <a:solidFill>
                  <a:schemeClr val="bg2">
                    <a:lumMod val="50000"/>
                  </a:schemeClr>
                </a:solidFill>
                <a:latin typeface="+mj-lt"/>
              </a:rPr>
              <a:t>Learning to Teach Design and Technology in the Secondary School </a:t>
            </a:r>
            <a:r>
              <a:rPr lang="en-GB" sz="1000" dirty="0">
                <a:solidFill>
                  <a:schemeClr val="bg2">
                    <a:lumMod val="50000"/>
                  </a:schemeClr>
                </a:solidFill>
                <a:latin typeface="+mj-lt"/>
              </a:rPr>
              <a:t>(4</a:t>
            </a:r>
            <a:r>
              <a:rPr lang="en-GB" sz="1000" baseline="30000" dirty="0">
                <a:solidFill>
                  <a:schemeClr val="bg2">
                    <a:lumMod val="50000"/>
                  </a:schemeClr>
                </a:solidFill>
                <a:latin typeface="+mj-lt"/>
              </a:rPr>
              <a:t>th</a:t>
            </a:r>
            <a:r>
              <a:rPr lang="en-GB" sz="1000" dirty="0">
                <a:solidFill>
                  <a:schemeClr val="bg2">
                    <a:lumMod val="50000"/>
                  </a:schemeClr>
                </a:solidFill>
                <a:latin typeface="+mj-lt"/>
              </a:rPr>
              <a:t> Edition). Abingdon, UK: Routledge. ISBN 9780367336813. </a:t>
            </a:r>
          </a:p>
        </p:txBody>
      </p:sp>
      <p:sp>
        <p:nvSpPr>
          <p:cNvPr id="6" name="TextBox 5">
            <a:extLst>
              <a:ext uri="{FF2B5EF4-FFF2-40B4-BE49-F238E27FC236}">
                <a16:creationId xmlns:a16="http://schemas.microsoft.com/office/drawing/2014/main" id="{42D90EF0-C077-014F-B563-A8E2653B219C}"/>
              </a:ext>
            </a:extLst>
          </p:cNvPr>
          <p:cNvSpPr txBox="1"/>
          <p:nvPr userDrawn="1"/>
        </p:nvSpPr>
        <p:spPr>
          <a:xfrm>
            <a:off x="4417886" y="4660522"/>
            <a:ext cx="2270590" cy="307777"/>
          </a:xfrm>
          <a:prstGeom prst="rect">
            <a:avLst/>
          </a:prstGeom>
          <a:noFill/>
        </p:spPr>
        <p:txBody>
          <a:bodyPr wrap="square" rtlCol="0">
            <a:spAutoFit/>
          </a:bodyPr>
          <a:lstStyle/>
          <a:p>
            <a:r>
              <a:rPr lang="en-GB" sz="1400" b="1" dirty="0"/>
              <a:t>How to cite the chapter:</a:t>
            </a:r>
          </a:p>
        </p:txBody>
      </p:sp>
    </p:spTree>
    <p:extLst>
      <p:ext uri="{BB962C8B-B14F-4D97-AF65-F5344CB8AC3E}">
        <p14:creationId xmlns:p14="http://schemas.microsoft.com/office/powerpoint/2010/main" val="3617891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00000"/>
          </a:xfrm>
        </p:spPr>
        <p:txBody>
          <a:bodyPr>
            <a:normAutofit/>
          </a:bodyPr>
          <a:lstStyle>
            <a:lvl1pPr>
              <a:defRPr sz="3200" b="1" i="0">
                <a:solidFill>
                  <a:schemeClr val="tx1">
                    <a:lumMod val="65000"/>
                    <a:lumOff val="35000"/>
                  </a:schemeClr>
                </a:solidFill>
                <a:latin typeface="Calibri" panose="020F0502020204030204" pitchFamily="34" charset="0"/>
                <a:cs typeface="Calibri" panose="020F0502020204030204" pitchFamily="34" charset="0"/>
              </a:defRPr>
            </a:lvl1pPr>
          </a:lstStyle>
          <a:p>
            <a:r>
              <a:rPr lang="en-GB" dirty="0"/>
              <a:t>Click to edit Master title style</a:t>
            </a:r>
            <a:endParaRPr lang="en-US" dirty="0"/>
          </a:p>
        </p:txBody>
      </p:sp>
      <p:sp>
        <p:nvSpPr>
          <p:cNvPr id="3" name="Content Placeholder 2"/>
          <p:cNvSpPr>
            <a:spLocks noGrp="1"/>
          </p:cNvSpPr>
          <p:nvPr>
            <p:ph idx="1"/>
          </p:nvPr>
        </p:nvSpPr>
        <p:spPr>
          <a:xfrm>
            <a:off x="628650" y="1373986"/>
            <a:ext cx="7886700" cy="48240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10"/>
          </p:nvPr>
        </p:nvSpPr>
        <p:spPr>
          <a:xfrm>
            <a:off x="628650" y="6356351"/>
            <a:ext cx="1870001" cy="365125"/>
          </a:xfrm>
        </p:spPr>
        <p:txBody>
          <a:bodyPr/>
          <a:lstStyle/>
          <a:p>
            <a:fld id="{2D6FA700-4CBE-D243-AB6B-4EE76637B650}" type="datetimeFigureOut">
              <a:rPr lang="en-GB" smtClean="0"/>
              <a:t>28/08/2020</a:t>
            </a:fld>
            <a:endParaRPr lang="en-GB" dirty="0"/>
          </a:p>
        </p:txBody>
      </p:sp>
      <p:sp>
        <p:nvSpPr>
          <p:cNvPr id="5" name="Footer Placeholder 4"/>
          <p:cNvSpPr>
            <a:spLocks noGrp="1"/>
          </p:cNvSpPr>
          <p:nvPr>
            <p:ph type="ftr" sz="quarter" idx="11"/>
          </p:nvPr>
        </p:nvSpPr>
        <p:spPr>
          <a:xfrm>
            <a:off x="2615609" y="6356351"/>
            <a:ext cx="3912782" cy="365125"/>
          </a:xfrm>
        </p:spPr>
        <p:txBody>
          <a:bodyPr/>
          <a:lstStyle>
            <a:lvl1pPr>
              <a:defRPr i="0"/>
            </a:lvl1pPr>
          </a:lstStyle>
          <a:p>
            <a:r>
              <a:rPr lang="en-GB" dirty="0">
                <a:solidFill>
                  <a:schemeClr val="bg2">
                    <a:lumMod val="50000"/>
                  </a:schemeClr>
                </a:solidFill>
              </a:rPr>
              <a:t>Learning to Teach Design and Technology… (Hardy, 2020)</a:t>
            </a:r>
            <a:endParaRPr lang="en-GB" dirty="0"/>
          </a:p>
        </p:txBody>
      </p:sp>
      <p:sp>
        <p:nvSpPr>
          <p:cNvPr id="6" name="Slide Number Placeholder 5"/>
          <p:cNvSpPr>
            <a:spLocks noGrp="1"/>
          </p:cNvSpPr>
          <p:nvPr>
            <p:ph type="sldNum" sz="quarter" idx="12"/>
          </p:nvPr>
        </p:nvSpPr>
        <p:spPr>
          <a:xfrm>
            <a:off x="6645348" y="6356351"/>
            <a:ext cx="1870001" cy="365125"/>
          </a:xfrm>
        </p:spPr>
        <p:txBody>
          <a:bodyPr/>
          <a:lstStyle/>
          <a:p>
            <a:fld id="{78F26B01-106A-B94C-BD14-D7B5702C4E77}" type="slidenum">
              <a:rPr lang="en-GB" smtClean="0"/>
              <a:t>‹#›</a:t>
            </a:fld>
            <a:endParaRPr lang="en-GB"/>
          </a:p>
        </p:txBody>
      </p:sp>
    </p:spTree>
    <p:extLst>
      <p:ext uri="{BB962C8B-B14F-4D97-AF65-F5344CB8AC3E}">
        <p14:creationId xmlns:p14="http://schemas.microsoft.com/office/powerpoint/2010/main" val="2876856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900000"/>
          </a:xfrm>
        </p:spPr>
        <p:txBody>
          <a:bodyPr>
            <a:normAutofit/>
          </a:bodyPr>
          <a:lstStyle>
            <a:lvl1pPr>
              <a:defRPr sz="3200" b="1" i="0">
                <a:solidFill>
                  <a:schemeClr val="tx1">
                    <a:lumMod val="65000"/>
                    <a:lumOff val="35000"/>
                  </a:schemeClr>
                </a:solidFill>
                <a:latin typeface="Calibri" panose="020F0502020204030204" pitchFamily="34" charset="0"/>
                <a:cs typeface="Calibri" panose="020F0502020204030204" pitchFamily="34" charset="0"/>
              </a:defRPr>
            </a:lvl1pPr>
          </a:lstStyle>
          <a:p>
            <a:r>
              <a:rPr lang="en-GB" dirty="0"/>
              <a:t>Click to edit Master title style</a:t>
            </a:r>
            <a:endParaRPr lang="en-US" dirty="0"/>
          </a:p>
        </p:txBody>
      </p:sp>
      <p:sp>
        <p:nvSpPr>
          <p:cNvPr id="3" name="Content Placeholder 2"/>
          <p:cNvSpPr>
            <a:spLocks noGrp="1"/>
          </p:cNvSpPr>
          <p:nvPr>
            <p:ph sz="half" idx="1"/>
          </p:nvPr>
        </p:nvSpPr>
        <p:spPr>
          <a:xfrm>
            <a:off x="628650" y="1371599"/>
            <a:ext cx="3886200" cy="48240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371600"/>
            <a:ext cx="3886200" cy="480536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3">
            <a:extLst>
              <a:ext uri="{FF2B5EF4-FFF2-40B4-BE49-F238E27FC236}">
                <a16:creationId xmlns:a16="http://schemas.microsoft.com/office/drawing/2014/main" id="{1B4C3F18-E7B8-A048-9373-7AEF3AB97C73}"/>
              </a:ext>
            </a:extLst>
          </p:cNvPr>
          <p:cNvSpPr>
            <a:spLocks noGrp="1"/>
          </p:cNvSpPr>
          <p:nvPr>
            <p:ph type="dt" sz="half" idx="10"/>
          </p:nvPr>
        </p:nvSpPr>
        <p:spPr>
          <a:xfrm>
            <a:off x="628650" y="6356351"/>
            <a:ext cx="1870001" cy="365125"/>
          </a:xfrm>
        </p:spPr>
        <p:txBody>
          <a:bodyPr/>
          <a:lstStyle/>
          <a:p>
            <a:fld id="{2D6FA700-4CBE-D243-AB6B-4EE76637B650}" type="datetimeFigureOut">
              <a:rPr lang="en-GB" smtClean="0"/>
              <a:t>28/08/2020</a:t>
            </a:fld>
            <a:endParaRPr lang="en-GB" dirty="0"/>
          </a:p>
        </p:txBody>
      </p:sp>
      <p:sp>
        <p:nvSpPr>
          <p:cNvPr id="9" name="Footer Placeholder 4">
            <a:extLst>
              <a:ext uri="{FF2B5EF4-FFF2-40B4-BE49-F238E27FC236}">
                <a16:creationId xmlns:a16="http://schemas.microsoft.com/office/drawing/2014/main" id="{FA564830-0F41-214E-B9FA-95D27A16E973}"/>
              </a:ext>
            </a:extLst>
          </p:cNvPr>
          <p:cNvSpPr>
            <a:spLocks noGrp="1"/>
          </p:cNvSpPr>
          <p:nvPr>
            <p:ph type="ftr" sz="quarter" idx="11"/>
          </p:nvPr>
        </p:nvSpPr>
        <p:spPr>
          <a:xfrm>
            <a:off x="2615609" y="6356351"/>
            <a:ext cx="3912782" cy="365125"/>
          </a:xfrm>
        </p:spPr>
        <p:txBody>
          <a:bodyPr/>
          <a:lstStyle>
            <a:lvl1pPr>
              <a:defRPr i="0"/>
            </a:lvl1pPr>
          </a:lstStyle>
          <a:p>
            <a:r>
              <a:rPr lang="en-GB" dirty="0">
                <a:solidFill>
                  <a:schemeClr val="bg2">
                    <a:lumMod val="50000"/>
                  </a:schemeClr>
                </a:solidFill>
              </a:rPr>
              <a:t>Learning to Teach Design and Technology… (Hardy, 2020)</a:t>
            </a:r>
            <a:endParaRPr lang="en-GB" dirty="0"/>
          </a:p>
        </p:txBody>
      </p:sp>
      <p:sp>
        <p:nvSpPr>
          <p:cNvPr id="10" name="Slide Number Placeholder 5">
            <a:extLst>
              <a:ext uri="{FF2B5EF4-FFF2-40B4-BE49-F238E27FC236}">
                <a16:creationId xmlns:a16="http://schemas.microsoft.com/office/drawing/2014/main" id="{444F5B7C-9D6F-404C-AC74-1FFAF5BA98F9}"/>
              </a:ext>
            </a:extLst>
          </p:cNvPr>
          <p:cNvSpPr>
            <a:spLocks noGrp="1"/>
          </p:cNvSpPr>
          <p:nvPr>
            <p:ph type="sldNum" sz="quarter" idx="12"/>
          </p:nvPr>
        </p:nvSpPr>
        <p:spPr>
          <a:xfrm>
            <a:off x="6645348" y="6356351"/>
            <a:ext cx="1870001" cy="365125"/>
          </a:xfrm>
        </p:spPr>
        <p:txBody>
          <a:bodyPr/>
          <a:lstStyle/>
          <a:p>
            <a:fld id="{78F26B01-106A-B94C-BD14-D7B5702C4E77}" type="slidenum">
              <a:rPr lang="en-GB" smtClean="0"/>
              <a:t>‹#›</a:t>
            </a:fld>
            <a:endParaRPr lang="en-GB"/>
          </a:p>
        </p:txBody>
      </p:sp>
    </p:spTree>
    <p:extLst>
      <p:ext uri="{BB962C8B-B14F-4D97-AF65-F5344CB8AC3E}">
        <p14:creationId xmlns:p14="http://schemas.microsoft.com/office/powerpoint/2010/main" val="1428730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ig Ques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365126"/>
            <a:ext cx="7886700" cy="900000"/>
          </a:xfrm>
        </p:spPr>
        <p:txBody>
          <a:bodyPr>
            <a:normAutofit/>
          </a:bodyPr>
          <a:lstStyle>
            <a:lvl1pPr>
              <a:defRPr sz="3200" b="1" i="0">
                <a:solidFill>
                  <a:schemeClr val="tx1">
                    <a:lumMod val="65000"/>
                    <a:lumOff val="35000"/>
                  </a:schemeClr>
                </a:solidFill>
                <a:latin typeface="Calibri" panose="020F0502020204030204" pitchFamily="34" charset="0"/>
                <a:cs typeface="Calibri" panose="020F0502020204030204" pitchFamily="34" charset="0"/>
              </a:defRPr>
            </a:lvl1pPr>
          </a:lstStyle>
          <a:p>
            <a:r>
              <a:rPr lang="en-GB" dirty="0"/>
              <a:t>Click to edit Big Question </a:t>
            </a:r>
            <a:endParaRPr lang="en-US" dirty="0"/>
          </a:p>
        </p:txBody>
      </p:sp>
      <p:sp>
        <p:nvSpPr>
          <p:cNvPr id="3" name="Content Placeholder 2"/>
          <p:cNvSpPr>
            <a:spLocks noGrp="1"/>
          </p:cNvSpPr>
          <p:nvPr>
            <p:ph idx="1"/>
          </p:nvPr>
        </p:nvSpPr>
        <p:spPr>
          <a:xfrm>
            <a:off x="628650" y="1373986"/>
            <a:ext cx="7886700" cy="48240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10"/>
          </p:nvPr>
        </p:nvSpPr>
        <p:spPr>
          <a:xfrm>
            <a:off x="628650" y="6356351"/>
            <a:ext cx="1870001" cy="365125"/>
          </a:xfrm>
        </p:spPr>
        <p:txBody>
          <a:bodyPr/>
          <a:lstStyle/>
          <a:p>
            <a:fld id="{2D6FA700-4CBE-D243-AB6B-4EE76637B650}" type="datetimeFigureOut">
              <a:rPr lang="en-GB" smtClean="0"/>
              <a:t>28/08/2020</a:t>
            </a:fld>
            <a:endParaRPr lang="en-GB" dirty="0"/>
          </a:p>
        </p:txBody>
      </p:sp>
      <p:sp>
        <p:nvSpPr>
          <p:cNvPr id="5" name="Footer Placeholder 4"/>
          <p:cNvSpPr>
            <a:spLocks noGrp="1"/>
          </p:cNvSpPr>
          <p:nvPr>
            <p:ph type="ftr" sz="quarter" idx="11"/>
          </p:nvPr>
        </p:nvSpPr>
        <p:spPr>
          <a:xfrm>
            <a:off x="2615609" y="6356351"/>
            <a:ext cx="3912782" cy="365125"/>
          </a:xfrm>
        </p:spPr>
        <p:txBody>
          <a:bodyPr/>
          <a:lstStyle>
            <a:lvl1pPr>
              <a:defRPr i="0"/>
            </a:lvl1pPr>
          </a:lstStyle>
          <a:p>
            <a:r>
              <a:rPr lang="en-GB" dirty="0">
                <a:solidFill>
                  <a:schemeClr val="bg2">
                    <a:lumMod val="50000"/>
                  </a:schemeClr>
                </a:solidFill>
              </a:rPr>
              <a:t>Learning to Teach Design and Technology… (Hardy, 2020)</a:t>
            </a:r>
            <a:endParaRPr lang="en-GB" dirty="0"/>
          </a:p>
        </p:txBody>
      </p:sp>
      <p:sp>
        <p:nvSpPr>
          <p:cNvPr id="6" name="Slide Number Placeholder 5"/>
          <p:cNvSpPr>
            <a:spLocks noGrp="1"/>
          </p:cNvSpPr>
          <p:nvPr>
            <p:ph type="sldNum" sz="quarter" idx="12"/>
          </p:nvPr>
        </p:nvSpPr>
        <p:spPr>
          <a:xfrm>
            <a:off x="6645348" y="6356351"/>
            <a:ext cx="1870001" cy="365125"/>
          </a:xfrm>
        </p:spPr>
        <p:txBody>
          <a:bodyPr/>
          <a:lstStyle/>
          <a:p>
            <a:fld id="{78F26B01-106A-B94C-BD14-D7B5702C4E77}" type="slidenum">
              <a:rPr lang="en-GB" smtClean="0"/>
              <a:t>‹#›</a:t>
            </a:fld>
            <a:endParaRPr lang="en-GB"/>
          </a:p>
        </p:txBody>
      </p:sp>
    </p:spTree>
    <p:extLst>
      <p:ext uri="{BB962C8B-B14F-4D97-AF65-F5344CB8AC3E}">
        <p14:creationId xmlns:p14="http://schemas.microsoft.com/office/powerpoint/2010/main" val="3073327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Referenc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365126"/>
            <a:ext cx="7886700" cy="900000"/>
          </a:xfrm>
        </p:spPr>
        <p:txBody>
          <a:bodyPr>
            <a:normAutofit/>
          </a:bodyPr>
          <a:lstStyle>
            <a:lvl1pPr>
              <a:defRPr sz="3200" b="1" i="0">
                <a:solidFill>
                  <a:schemeClr val="tx1">
                    <a:lumMod val="65000"/>
                    <a:lumOff val="35000"/>
                  </a:schemeClr>
                </a:solidFill>
                <a:latin typeface="Calibri" panose="020F0502020204030204" pitchFamily="34" charset="0"/>
                <a:cs typeface="Calibri" panose="020F0502020204030204" pitchFamily="34" charset="0"/>
              </a:defRPr>
            </a:lvl1pPr>
          </a:lstStyle>
          <a:p>
            <a:r>
              <a:rPr lang="en-GB" dirty="0"/>
              <a:t>References</a:t>
            </a:r>
            <a:endParaRPr lang="en-US" dirty="0"/>
          </a:p>
        </p:txBody>
      </p:sp>
      <p:sp>
        <p:nvSpPr>
          <p:cNvPr id="3" name="Content Placeholder 2"/>
          <p:cNvSpPr>
            <a:spLocks noGrp="1"/>
          </p:cNvSpPr>
          <p:nvPr>
            <p:ph idx="1"/>
          </p:nvPr>
        </p:nvSpPr>
        <p:spPr>
          <a:xfrm>
            <a:off x="628650" y="1373986"/>
            <a:ext cx="7886700" cy="4824000"/>
          </a:xfrm>
        </p:spPr>
        <p:txBody>
          <a:bodyPr>
            <a:normAutofit/>
          </a:bodyPr>
          <a:lstStyle>
            <a:lvl1pPr marL="0" indent="0">
              <a:buNone/>
              <a:defRPr sz="1800"/>
            </a:lvl1pPr>
          </a:lstStyle>
          <a:p>
            <a:pPr lvl="0"/>
            <a:endParaRPr lang="en-US" dirty="0"/>
          </a:p>
        </p:txBody>
      </p:sp>
      <p:sp>
        <p:nvSpPr>
          <p:cNvPr id="4" name="Date Placeholder 3"/>
          <p:cNvSpPr>
            <a:spLocks noGrp="1"/>
          </p:cNvSpPr>
          <p:nvPr>
            <p:ph type="dt" sz="half" idx="10"/>
          </p:nvPr>
        </p:nvSpPr>
        <p:spPr>
          <a:xfrm>
            <a:off x="628650" y="6356351"/>
            <a:ext cx="1870001" cy="365125"/>
          </a:xfrm>
        </p:spPr>
        <p:txBody>
          <a:bodyPr/>
          <a:lstStyle/>
          <a:p>
            <a:fld id="{2D6FA700-4CBE-D243-AB6B-4EE76637B650}" type="datetimeFigureOut">
              <a:rPr lang="en-GB" smtClean="0"/>
              <a:t>28/08/2020</a:t>
            </a:fld>
            <a:endParaRPr lang="en-GB" dirty="0"/>
          </a:p>
        </p:txBody>
      </p:sp>
      <p:sp>
        <p:nvSpPr>
          <p:cNvPr id="5" name="Footer Placeholder 4"/>
          <p:cNvSpPr>
            <a:spLocks noGrp="1"/>
          </p:cNvSpPr>
          <p:nvPr>
            <p:ph type="ftr" sz="quarter" idx="11"/>
          </p:nvPr>
        </p:nvSpPr>
        <p:spPr>
          <a:xfrm>
            <a:off x="2615609" y="6356351"/>
            <a:ext cx="3912782" cy="365125"/>
          </a:xfrm>
        </p:spPr>
        <p:txBody>
          <a:bodyPr/>
          <a:lstStyle>
            <a:lvl1pPr>
              <a:defRPr i="0"/>
            </a:lvl1pPr>
          </a:lstStyle>
          <a:p>
            <a:r>
              <a:rPr lang="en-GB" dirty="0">
                <a:solidFill>
                  <a:schemeClr val="bg2">
                    <a:lumMod val="50000"/>
                  </a:schemeClr>
                </a:solidFill>
              </a:rPr>
              <a:t>Learning to Teach Design and Technology… (Hardy, 2020)</a:t>
            </a:r>
            <a:endParaRPr lang="en-GB" dirty="0"/>
          </a:p>
        </p:txBody>
      </p:sp>
      <p:sp>
        <p:nvSpPr>
          <p:cNvPr id="6" name="Slide Number Placeholder 5"/>
          <p:cNvSpPr>
            <a:spLocks noGrp="1"/>
          </p:cNvSpPr>
          <p:nvPr>
            <p:ph type="sldNum" sz="quarter" idx="12"/>
          </p:nvPr>
        </p:nvSpPr>
        <p:spPr>
          <a:xfrm>
            <a:off x="6645348" y="6356351"/>
            <a:ext cx="1870001" cy="365125"/>
          </a:xfrm>
        </p:spPr>
        <p:txBody>
          <a:bodyPr/>
          <a:lstStyle/>
          <a:p>
            <a:fld id="{78F26B01-106A-B94C-BD14-D7B5702C4E77}" type="slidenum">
              <a:rPr lang="en-GB" smtClean="0"/>
              <a:t>‹#›</a:t>
            </a:fld>
            <a:endParaRPr lang="en-GB"/>
          </a:p>
        </p:txBody>
      </p:sp>
    </p:spTree>
    <p:extLst>
      <p:ext uri="{BB962C8B-B14F-4D97-AF65-F5344CB8AC3E}">
        <p14:creationId xmlns:p14="http://schemas.microsoft.com/office/powerpoint/2010/main" val="487022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9CFC4EBB-554C-BF4E-986D-C16818806099}"/>
              </a:ext>
            </a:extLst>
          </p:cNvPr>
          <p:cNvSpPr>
            <a:spLocks noGrp="1"/>
          </p:cNvSpPr>
          <p:nvPr>
            <p:ph type="dt" sz="half" idx="10"/>
          </p:nvPr>
        </p:nvSpPr>
        <p:spPr>
          <a:xfrm>
            <a:off x="628650" y="6356351"/>
            <a:ext cx="1870001" cy="365125"/>
          </a:xfrm>
        </p:spPr>
        <p:txBody>
          <a:bodyPr/>
          <a:lstStyle/>
          <a:p>
            <a:fld id="{2D6FA700-4CBE-D243-AB6B-4EE76637B650}" type="datetimeFigureOut">
              <a:rPr lang="en-GB" smtClean="0"/>
              <a:t>28/08/2020</a:t>
            </a:fld>
            <a:endParaRPr lang="en-GB" dirty="0"/>
          </a:p>
        </p:txBody>
      </p:sp>
      <p:sp>
        <p:nvSpPr>
          <p:cNvPr id="6" name="Footer Placeholder 4">
            <a:extLst>
              <a:ext uri="{FF2B5EF4-FFF2-40B4-BE49-F238E27FC236}">
                <a16:creationId xmlns:a16="http://schemas.microsoft.com/office/drawing/2014/main" id="{AB8DA0B2-0423-A74E-91E3-99C4603BBA20}"/>
              </a:ext>
            </a:extLst>
          </p:cNvPr>
          <p:cNvSpPr>
            <a:spLocks noGrp="1"/>
          </p:cNvSpPr>
          <p:nvPr>
            <p:ph type="ftr" sz="quarter" idx="11"/>
          </p:nvPr>
        </p:nvSpPr>
        <p:spPr>
          <a:xfrm>
            <a:off x="2615609" y="6356351"/>
            <a:ext cx="3912782" cy="365125"/>
          </a:xfrm>
        </p:spPr>
        <p:txBody>
          <a:bodyPr/>
          <a:lstStyle>
            <a:lvl1pPr>
              <a:defRPr i="0"/>
            </a:lvl1pPr>
          </a:lstStyle>
          <a:p>
            <a:r>
              <a:rPr lang="en-GB" dirty="0">
                <a:solidFill>
                  <a:schemeClr val="bg2">
                    <a:lumMod val="50000"/>
                  </a:schemeClr>
                </a:solidFill>
              </a:rPr>
              <a:t>Learning to Teach Design and Technology… (Hardy, 2020)</a:t>
            </a:r>
            <a:endParaRPr lang="en-GB" dirty="0"/>
          </a:p>
        </p:txBody>
      </p:sp>
      <p:sp>
        <p:nvSpPr>
          <p:cNvPr id="7" name="Slide Number Placeholder 5">
            <a:extLst>
              <a:ext uri="{FF2B5EF4-FFF2-40B4-BE49-F238E27FC236}">
                <a16:creationId xmlns:a16="http://schemas.microsoft.com/office/drawing/2014/main" id="{2625DC88-7EFC-2746-BBD9-866FAFEE7D03}"/>
              </a:ext>
            </a:extLst>
          </p:cNvPr>
          <p:cNvSpPr>
            <a:spLocks noGrp="1"/>
          </p:cNvSpPr>
          <p:nvPr>
            <p:ph type="sldNum" sz="quarter" idx="12"/>
          </p:nvPr>
        </p:nvSpPr>
        <p:spPr>
          <a:xfrm>
            <a:off x="6645348" y="6356351"/>
            <a:ext cx="1870001" cy="365125"/>
          </a:xfrm>
        </p:spPr>
        <p:txBody>
          <a:bodyPr/>
          <a:lstStyle/>
          <a:p>
            <a:fld id="{78F26B01-106A-B94C-BD14-D7B5702C4E77}" type="slidenum">
              <a:rPr lang="en-GB" smtClean="0"/>
              <a:t>‹#›</a:t>
            </a:fld>
            <a:endParaRPr lang="en-GB"/>
          </a:p>
        </p:txBody>
      </p:sp>
    </p:spTree>
    <p:extLst>
      <p:ext uri="{BB962C8B-B14F-4D97-AF65-F5344CB8AC3E}">
        <p14:creationId xmlns:p14="http://schemas.microsoft.com/office/powerpoint/2010/main" val="21810971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26B01-106A-B94C-BD14-D7B5702C4E77}" type="slidenum">
              <a:rPr lang="en-GB" smtClean="0"/>
              <a:t>‹#›</a:t>
            </a:fld>
            <a:endParaRPr lang="en-GB"/>
          </a:p>
        </p:txBody>
      </p:sp>
    </p:spTree>
    <p:extLst>
      <p:ext uri="{BB962C8B-B14F-4D97-AF65-F5344CB8AC3E}">
        <p14:creationId xmlns:p14="http://schemas.microsoft.com/office/powerpoint/2010/main" val="39039568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8" r:id="rId4"/>
    <p:sldLayoutId id="2147483669" r:id="rId5"/>
    <p:sldLayoutId id="2147483667"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ebecca.topps@st-georges-academy.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linkedin.com/in/rebecca-topps-326293109/" TargetMode="External"/><Relationship Id="rId2" Type="http://schemas.openxmlformats.org/officeDocument/2006/relationships/hyperlink" Target="mailto:Rebecca.topps@st-georges-academy.org" TargetMode="External"/><Relationship Id="rId1" Type="http://schemas.openxmlformats.org/officeDocument/2006/relationships/slideLayout" Target="../slideLayouts/slideLayout3.xml"/><Relationship Id="rId4" Type="http://schemas.openxmlformats.org/officeDocument/2006/relationships/hyperlink" Target="https://twitter.com/designteacher2"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alisonhardy.work/"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routledge.com/Learning-to-Teach-Design-and-Technology-in-the-Secondary-School-A-Companion/Hardy/p/book/978036733681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EC2623A-62DE-884F-B393-B32DEF6D892D}"/>
              </a:ext>
            </a:extLst>
          </p:cNvPr>
          <p:cNvSpPr>
            <a:spLocks noGrp="1"/>
          </p:cNvSpPr>
          <p:nvPr>
            <p:ph type="subTitle" idx="1"/>
          </p:nvPr>
        </p:nvSpPr>
        <p:spPr/>
        <p:txBody>
          <a:bodyPr>
            <a:noAutofit/>
          </a:bodyPr>
          <a:lstStyle/>
          <a:p>
            <a:r>
              <a:rPr lang="en-GB" sz="1600" dirty="0"/>
              <a:t>Rebecca Topps</a:t>
            </a:r>
          </a:p>
          <a:p>
            <a:r>
              <a:rPr lang="en-GB" dirty="0"/>
              <a:t>St George’s Academy </a:t>
            </a:r>
          </a:p>
          <a:p>
            <a:r>
              <a:rPr lang="en-GB" sz="1600" dirty="0">
                <a:hlinkClick r:id="rId3"/>
              </a:rPr>
              <a:t>Rebecca.topps@st-georges-academy.org</a:t>
            </a:r>
            <a:r>
              <a:rPr lang="en-GB" sz="1600" dirty="0"/>
              <a:t> </a:t>
            </a:r>
          </a:p>
        </p:txBody>
      </p:sp>
      <p:sp>
        <p:nvSpPr>
          <p:cNvPr id="3" name="Title 2">
            <a:extLst>
              <a:ext uri="{FF2B5EF4-FFF2-40B4-BE49-F238E27FC236}">
                <a16:creationId xmlns:a16="http://schemas.microsoft.com/office/drawing/2014/main" id="{DF2943EC-7E56-5744-BA6C-CD591638C060}"/>
              </a:ext>
            </a:extLst>
          </p:cNvPr>
          <p:cNvSpPr>
            <a:spLocks noGrp="1"/>
          </p:cNvSpPr>
          <p:nvPr>
            <p:ph type="ctrTitle"/>
          </p:nvPr>
        </p:nvSpPr>
        <p:spPr/>
        <p:txBody>
          <a:bodyPr>
            <a:normAutofit fontScale="90000"/>
          </a:bodyPr>
          <a:lstStyle/>
          <a:p>
            <a:r>
              <a:rPr lang="en-US" dirty="0"/>
              <a:t>Chapter 18 Transitions after secondary design and technology</a:t>
            </a:r>
            <a:endParaRPr lang="en-GB" dirty="0"/>
          </a:p>
        </p:txBody>
      </p:sp>
      <p:sp>
        <p:nvSpPr>
          <p:cNvPr id="4" name="Text Placeholder 3">
            <a:extLst>
              <a:ext uri="{FF2B5EF4-FFF2-40B4-BE49-F238E27FC236}">
                <a16:creationId xmlns:a16="http://schemas.microsoft.com/office/drawing/2014/main" id="{B6786FEA-17F2-BF4D-A528-D826EBF34543}"/>
              </a:ext>
            </a:extLst>
          </p:cNvPr>
          <p:cNvSpPr>
            <a:spLocks noGrp="1"/>
          </p:cNvSpPr>
          <p:nvPr>
            <p:ph type="body" sz="quarter" idx="13"/>
          </p:nvPr>
        </p:nvSpPr>
        <p:spPr/>
        <p:txBody>
          <a:bodyPr>
            <a:normAutofit fontScale="92500"/>
          </a:bodyPr>
          <a:lstStyle/>
          <a:p>
            <a:r>
              <a:rPr lang="en-US" dirty="0"/>
              <a:t>Part 4 Developing your design and technology teaching and career</a:t>
            </a:r>
            <a:endParaRPr lang="en-GB" dirty="0"/>
          </a:p>
        </p:txBody>
      </p:sp>
      <p:sp>
        <p:nvSpPr>
          <p:cNvPr id="6" name="Rectangle 5">
            <a:extLst>
              <a:ext uri="{FF2B5EF4-FFF2-40B4-BE49-F238E27FC236}">
                <a16:creationId xmlns:a16="http://schemas.microsoft.com/office/drawing/2014/main" id="{885B2631-640A-6046-A9BB-8DFBE5CC5D71}"/>
              </a:ext>
            </a:extLst>
          </p:cNvPr>
          <p:cNvSpPr/>
          <p:nvPr/>
        </p:nvSpPr>
        <p:spPr>
          <a:xfrm>
            <a:off x="4417886" y="4988918"/>
            <a:ext cx="4190335" cy="1015663"/>
          </a:xfrm>
          <a:prstGeom prst="rect">
            <a:avLst/>
          </a:prstGeom>
        </p:spPr>
        <p:txBody>
          <a:bodyPr wrap="square">
            <a:spAutoFit/>
          </a:bodyPr>
          <a:lstStyle/>
          <a:p>
            <a:r>
              <a:rPr lang="en-GB" sz="1200" dirty="0"/>
              <a:t>Topps, R. (2021). </a:t>
            </a:r>
            <a:r>
              <a:rPr lang="en-US" sz="1200" dirty="0"/>
              <a:t>Transitions after secondary design and technology</a:t>
            </a:r>
            <a:r>
              <a:rPr lang="en-GB" sz="1200" dirty="0"/>
              <a:t>. In A. Hardy (Ed.), </a:t>
            </a:r>
            <a:r>
              <a:rPr lang="en-GB" sz="1200" i="1" dirty="0"/>
              <a:t>Learning to teach design and technology in the secondary school: a companion to school experience </a:t>
            </a:r>
            <a:r>
              <a:rPr lang="en-GB" sz="1200" dirty="0"/>
              <a:t>(4th Edition). Abingdon, UK: Routledge. ISBN: 9780367336813</a:t>
            </a:r>
          </a:p>
        </p:txBody>
      </p:sp>
    </p:spTree>
    <p:extLst>
      <p:ext uri="{BB962C8B-B14F-4D97-AF65-F5344CB8AC3E}">
        <p14:creationId xmlns:p14="http://schemas.microsoft.com/office/powerpoint/2010/main" val="663933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7313-2A2E-6548-966D-CD2C2292467D}"/>
              </a:ext>
            </a:extLst>
          </p:cNvPr>
          <p:cNvSpPr>
            <a:spLocks noGrp="1"/>
          </p:cNvSpPr>
          <p:nvPr>
            <p:ph type="title"/>
          </p:nvPr>
        </p:nvSpPr>
        <p:spPr/>
        <p:txBody>
          <a:bodyPr/>
          <a:lstStyle/>
          <a:p>
            <a:r>
              <a:rPr lang="en-GB" dirty="0"/>
              <a:t>Objectives</a:t>
            </a:r>
          </a:p>
        </p:txBody>
      </p:sp>
      <p:sp>
        <p:nvSpPr>
          <p:cNvPr id="3" name="Content Placeholder 2">
            <a:extLst>
              <a:ext uri="{FF2B5EF4-FFF2-40B4-BE49-F238E27FC236}">
                <a16:creationId xmlns:a16="http://schemas.microsoft.com/office/drawing/2014/main" id="{6EA0BBD2-4B32-1B49-AF56-235FD3F66116}"/>
              </a:ext>
            </a:extLst>
          </p:cNvPr>
          <p:cNvSpPr>
            <a:spLocks noGrp="1"/>
          </p:cNvSpPr>
          <p:nvPr>
            <p:ph idx="1"/>
          </p:nvPr>
        </p:nvSpPr>
        <p:spPr/>
        <p:txBody>
          <a:bodyPr>
            <a:normAutofit/>
          </a:bodyPr>
          <a:lstStyle/>
          <a:p>
            <a:pPr marL="223838" indent="-223838">
              <a:buNone/>
            </a:pPr>
            <a:r>
              <a:rPr lang="en-US" sz="2400" dirty="0"/>
              <a:t>• Know the two routes most pupils take post-16;</a:t>
            </a:r>
          </a:p>
          <a:p>
            <a:pPr marL="223838" indent="-223838">
              <a:buNone/>
            </a:pPr>
            <a:r>
              <a:rPr lang="en-US" sz="2400" dirty="0"/>
              <a:t>• Know about some of the different qualifications available post-16 that follow on from secondary design and technology;</a:t>
            </a:r>
          </a:p>
          <a:p>
            <a:pPr marL="223838" indent="-223838">
              <a:buNone/>
            </a:pPr>
            <a:r>
              <a:rPr lang="en-US" sz="2400" dirty="0"/>
              <a:t>• Understand different educational settings and the post-16 opportunities commonly available in each setting;</a:t>
            </a:r>
          </a:p>
          <a:p>
            <a:pPr marL="223838" indent="-223838">
              <a:buNone/>
            </a:pPr>
            <a:r>
              <a:rPr lang="en-US" sz="2400" dirty="0"/>
              <a:t>• Identify how secondary design and technology is useful for pupils’ post-16 routes.</a:t>
            </a:r>
          </a:p>
          <a:p>
            <a:endParaRPr lang="en-GB" sz="2400" dirty="0"/>
          </a:p>
        </p:txBody>
      </p:sp>
    </p:spTree>
    <p:extLst>
      <p:ext uri="{BB962C8B-B14F-4D97-AF65-F5344CB8AC3E}">
        <p14:creationId xmlns:p14="http://schemas.microsoft.com/office/powerpoint/2010/main" val="740381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4330-6486-694E-A74E-F7D80715755B}"/>
              </a:ext>
            </a:extLst>
          </p:cNvPr>
          <p:cNvSpPr>
            <a:spLocks noGrp="1"/>
          </p:cNvSpPr>
          <p:nvPr>
            <p:ph type="title"/>
          </p:nvPr>
        </p:nvSpPr>
        <p:spPr>
          <a:xfrm>
            <a:off x="628650" y="384176"/>
            <a:ext cx="7886700" cy="900000"/>
          </a:xfrm>
        </p:spPr>
        <p:txBody>
          <a:bodyPr/>
          <a:lstStyle/>
          <a:p>
            <a:r>
              <a:rPr lang="en-GB" dirty="0"/>
              <a:t>Introduction</a:t>
            </a:r>
          </a:p>
        </p:txBody>
      </p:sp>
      <p:sp>
        <p:nvSpPr>
          <p:cNvPr id="3" name="Content Placeholder 2">
            <a:extLst>
              <a:ext uri="{FF2B5EF4-FFF2-40B4-BE49-F238E27FC236}">
                <a16:creationId xmlns:a16="http://schemas.microsoft.com/office/drawing/2014/main" id="{BA08A0B6-3711-AC43-A23A-2CE1827EA8E1}"/>
              </a:ext>
            </a:extLst>
          </p:cNvPr>
          <p:cNvSpPr>
            <a:spLocks noGrp="1"/>
          </p:cNvSpPr>
          <p:nvPr>
            <p:ph idx="1"/>
          </p:nvPr>
        </p:nvSpPr>
        <p:spPr/>
        <p:txBody>
          <a:bodyPr>
            <a:normAutofit/>
          </a:bodyPr>
          <a:lstStyle/>
          <a:p>
            <a:pPr marL="0" indent="0">
              <a:buNone/>
            </a:pPr>
            <a:r>
              <a:rPr lang="en-US" sz="2400" b="1" i="1" dirty="0">
                <a:solidFill>
                  <a:srgbClr val="1A1A1A"/>
                </a:solidFill>
                <a:effectLst/>
                <a:uFill>
                  <a:solidFill>
                    <a:srgbClr val="1A1A1A"/>
                  </a:solidFill>
                </a:uFill>
                <a:ea typeface="Arial Unicode MS"/>
                <a:cs typeface="Arial Unicode MS"/>
              </a:rPr>
              <a:t>How did you get to this stage now? </a:t>
            </a:r>
          </a:p>
          <a:p>
            <a:pPr marL="0" indent="0">
              <a:buNone/>
            </a:pPr>
            <a:endParaRPr lang="en-US" sz="2400" dirty="0">
              <a:solidFill>
                <a:srgbClr val="1A1A1A"/>
              </a:solidFill>
              <a:uFill>
                <a:solidFill>
                  <a:srgbClr val="1A1A1A"/>
                </a:solidFill>
              </a:uFill>
              <a:ea typeface="Arial Unicode MS"/>
              <a:cs typeface="Arial Unicode MS"/>
            </a:endParaRPr>
          </a:p>
          <a:p>
            <a:pPr marL="0" indent="0">
              <a:buNone/>
            </a:pPr>
            <a:r>
              <a:rPr lang="en-US" sz="2000" dirty="0">
                <a:solidFill>
                  <a:srgbClr val="1A1A1A"/>
                </a:solidFill>
                <a:effectLst/>
                <a:uFill>
                  <a:solidFill>
                    <a:srgbClr val="1A1A1A"/>
                  </a:solidFill>
                </a:uFill>
                <a:ea typeface="Arial Unicode MS"/>
                <a:cs typeface="Arial Unicode MS"/>
              </a:rPr>
              <a:t>The design and technology journey does not always finish at the age of 16 when compulsory education often ends. </a:t>
            </a:r>
          </a:p>
          <a:p>
            <a:pPr marL="0" indent="0">
              <a:buNone/>
            </a:pPr>
            <a:endParaRPr lang="en-US" sz="2000" dirty="0">
              <a:solidFill>
                <a:srgbClr val="1A1A1A"/>
              </a:solidFill>
              <a:effectLst/>
              <a:uFill>
                <a:solidFill>
                  <a:srgbClr val="1A1A1A"/>
                </a:solidFill>
              </a:uFill>
              <a:ea typeface="Arial Unicode MS"/>
              <a:cs typeface="Arial Unicode MS"/>
            </a:endParaRPr>
          </a:p>
          <a:p>
            <a:pPr marL="0" indent="0">
              <a:buNone/>
            </a:pPr>
            <a:r>
              <a:rPr lang="en-US" sz="2000" dirty="0">
                <a:solidFill>
                  <a:srgbClr val="1A1A1A"/>
                </a:solidFill>
                <a:effectLst/>
                <a:uFill>
                  <a:solidFill>
                    <a:srgbClr val="1A1A1A"/>
                  </a:solidFill>
                </a:uFill>
                <a:ea typeface="Arial Unicode MS"/>
                <a:cs typeface="Arial Unicode MS"/>
              </a:rPr>
              <a:t>The transition after secondary education opens a range of potential avenues for pupils to follow. </a:t>
            </a:r>
          </a:p>
          <a:p>
            <a:pPr marL="0" indent="0">
              <a:buNone/>
            </a:pPr>
            <a:endParaRPr lang="en-US" sz="2000" dirty="0">
              <a:solidFill>
                <a:srgbClr val="1A1A1A"/>
              </a:solidFill>
              <a:uFill>
                <a:solidFill>
                  <a:srgbClr val="1A1A1A"/>
                </a:solidFill>
              </a:uFill>
              <a:ea typeface="Arial Unicode MS"/>
              <a:cs typeface="Arial Unicode MS"/>
            </a:endParaRPr>
          </a:p>
          <a:p>
            <a:pPr marL="0" indent="0">
              <a:buNone/>
            </a:pPr>
            <a:r>
              <a:rPr lang="en-US" sz="2000" dirty="0">
                <a:solidFill>
                  <a:srgbClr val="1A1A1A"/>
                </a:solidFill>
                <a:effectLst/>
                <a:uFill>
                  <a:solidFill>
                    <a:srgbClr val="1A1A1A"/>
                  </a:solidFill>
                </a:uFill>
                <a:ea typeface="Arial Unicode MS"/>
                <a:cs typeface="Arial Unicode MS"/>
              </a:rPr>
              <a:t>The range of skills pupils learn during their primary and secondary design and technology education are broad and</a:t>
            </a:r>
            <a:r>
              <a:rPr lang="en-US" sz="2000" dirty="0">
                <a:solidFill>
                  <a:srgbClr val="1A1A1A"/>
                </a:solidFill>
                <a:uFill>
                  <a:solidFill>
                    <a:srgbClr val="1A1A1A"/>
                  </a:solidFill>
                </a:uFill>
                <a:ea typeface="Arial Unicode MS"/>
                <a:cs typeface="Arial Unicode MS"/>
              </a:rPr>
              <a:t> </a:t>
            </a:r>
            <a:r>
              <a:rPr lang="en-US" sz="2000" dirty="0">
                <a:solidFill>
                  <a:srgbClr val="1A1A1A"/>
                </a:solidFill>
                <a:effectLst/>
                <a:uFill>
                  <a:solidFill>
                    <a:srgbClr val="1A1A1A"/>
                  </a:solidFill>
                </a:uFill>
                <a:ea typeface="Arial Unicode MS"/>
                <a:cs typeface="Arial Unicode MS"/>
              </a:rPr>
              <a:t>these skills are useful in different routes post-16. </a:t>
            </a:r>
            <a:endParaRPr lang="en-GB" sz="2000" dirty="0"/>
          </a:p>
        </p:txBody>
      </p:sp>
    </p:spTree>
    <p:extLst>
      <p:ext uri="{BB962C8B-B14F-4D97-AF65-F5344CB8AC3E}">
        <p14:creationId xmlns:p14="http://schemas.microsoft.com/office/powerpoint/2010/main" val="1562007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9D777-A521-8E42-8224-F882AD7EE000}"/>
              </a:ext>
            </a:extLst>
          </p:cNvPr>
          <p:cNvSpPr>
            <a:spLocks noGrp="1"/>
          </p:cNvSpPr>
          <p:nvPr>
            <p:ph type="title"/>
          </p:nvPr>
        </p:nvSpPr>
        <p:spPr/>
        <p:txBody>
          <a:bodyPr/>
          <a:lstStyle/>
          <a:p>
            <a:r>
              <a:rPr lang="en-GB" dirty="0"/>
              <a:t>Big Question 1</a:t>
            </a:r>
          </a:p>
        </p:txBody>
      </p:sp>
      <p:sp>
        <p:nvSpPr>
          <p:cNvPr id="4" name="Content Placeholder 3">
            <a:extLst>
              <a:ext uri="{FF2B5EF4-FFF2-40B4-BE49-F238E27FC236}">
                <a16:creationId xmlns:a16="http://schemas.microsoft.com/office/drawing/2014/main" id="{4996D846-C499-5B4C-83B5-A3B5F1B67D24}"/>
              </a:ext>
            </a:extLst>
          </p:cNvPr>
          <p:cNvSpPr>
            <a:spLocks noGrp="1"/>
          </p:cNvSpPr>
          <p:nvPr>
            <p:ph idx="1"/>
          </p:nvPr>
        </p:nvSpPr>
        <p:spPr/>
        <p:txBody>
          <a:bodyPr anchor="b">
            <a:normAutofit/>
          </a:bodyPr>
          <a:lstStyle/>
          <a:p>
            <a:pPr marL="0" indent="0" algn="r">
              <a:buNone/>
            </a:pPr>
            <a:r>
              <a:rPr lang="en-GB" sz="8800" dirty="0"/>
              <a:t>’Is D&amp;T education linear?’</a:t>
            </a:r>
          </a:p>
        </p:txBody>
      </p:sp>
    </p:spTree>
    <p:extLst>
      <p:ext uri="{BB962C8B-B14F-4D97-AF65-F5344CB8AC3E}">
        <p14:creationId xmlns:p14="http://schemas.microsoft.com/office/powerpoint/2010/main" val="3241112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8B4E1-C5E3-F14A-B45A-7ED265704A2C}"/>
              </a:ext>
            </a:extLst>
          </p:cNvPr>
          <p:cNvSpPr>
            <a:spLocks noGrp="1"/>
          </p:cNvSpPr>
          <p:nvPr>
            <p:ph type="title"/>
          </p:nvPr>
        </p:nvSpPr>
        <p:spPr/>
        <p:txBody>
          <a:bodyPr/>
          <a:lstStyle/>
          <a:p>
            <a:r>
              <a:rPr lang="en-GB" dirty="0">
                <a:latin typeface="+mn-lt"/>
              </a:rPr>
              <a:t>Post-16 routes: Academic and Vocational  </a:t>
            </a:r>
          </a:p>
        </p:txBody>
      </p:sp>
      <p:sp>
        <p:nvSpPr>
          <p:cNvPr id="4" name="TextBox 3">
            <a:extLst>
              <a:ext uri="{FF2B5EF4-FFF2-40B4-BE49-F238E27FC236}">
                <a16:creationId xmlns:a16="http://schemas.microsoft.com/office/drawing/2014/main" id="{C023C89C-CE2D-4C5F-926C-82735E2BFF98}"/>
              </a:ext>
            </a:extLst>
          </p:cNvPr>
          <p:cNvSpPr txBox="1"/>
          <p:nvPr/>
        </p:nvSpPr>
        <p:spPr>
          <a:xfrm>
            <a:off x="460003" y="2240019"/>
            <a:ext cx="3757370" cy="2246769"/>
          </a:xfrm>
          <a:prstGeom prst="rect">
            <a:avLst/>
          </a:prstGeom>
          <a:noFill/>
        </p:spPr>
        <p:txBody>
          <a:bodyPr wrap="square" rtlCol="0">
            <a:spAutoFit/>
          </a:bodyPr>
          <a:lstStyle/>
          <a:p>
            <a:r>
              <a:rPr lang="en-US" sz="2000" b="1" dirty="0"/>
              <a:t>Academic Overview </a:t>
            </a:r>
          </a:p>
          <a:p>
            <a:pPr marL="285750" indent="-285750">
              <a:buFontTx/>
              <a:buChar char="-"/>
            </a:pPr>
            <a:r>
              <a:rPr lang="en-US" sz="2000" dirty="0"/>
              <a:t>Academic routes lead to higher education courses</a:t>
            </a:r>
          </a:p>
          <a:p>
            <a:pPr marL="285750" indent="-285750">
              <a:buFontTx/>
              <a:buChar char="-"/>
            </a:pPr>
            <a:r>
              <a:rPr lang="en-US" sz="2000" dirty="0"/>
              <a:t>typically involves two further years in full time education</a:t>
            </a:r>
          </a:p>
          <a:p>
            <a:pPr marL="285750" indent="-285750">
              <a:buFontTx/>
              <a:buChar char="-"/>
            </a:pPr>
            <a:r>
              <a:rPr lang="en-US" sz="2000" dirty="0">
                <a:effectLst/>
                <a:ea typeface="Arial Unicode MS"/>
              </a:rPr>
              <a:t>used as a route into higher education</a:t>
            </a:r>
            <a:endParaRPr lang="en-GB" sz="2000" dirty="0"/>
          </a:p>
        </p:txBody>
      </p:sp>
      <p:sp>
        <p:nvSpPr>
          <p:cNvPr id="6" name="TextBox 5">
            <a:extLst>
              <a:ext uri="{FF2B5EF4-FFF2-40B4-BE49-F238E27FC236}">
                <a16:creationId xmlns:a16="http://schemas.microsoft.com/office/drawing/2014/main" id="{A2A27ACA-05B2-463B-BEB5-90B780F2E3C2}"/>
              </a:ext>
            </a:extLst>
          </p:cNvPr>
          <p:cNvSpPr txBox="1"/>
          <p:nvPr/>
        </p:nvSpPr>
        <p:spPr>
          <a:xfrm>
            <a:off x="4572000" y="2240018"/>
            <a:ext cx="4308953" cy="2246769"/>
          </a:xfrm>
          <a:prstGeom prst="rect">
            <a:avLst/>
          </a:prstGeom>
          <a:noFill/>
        </p:spPr>
        <p:txBody>
          <a:bodyPr wrap="square">
            <a:spAutoFit/>
          </a:bodyPr>
          <a:lstStyle/>
          <a:p>
            <a:r>
              <a:rPr lang="en-US" sz="2000" b="1" dirty="0"/>
              <a:t>Vocational Overview </a:t>
            </a:r>
          </a:p>
          <a:p>
            <a:pPr marL="285750" indent="-285750">
              <a:buFontTx/>
              <a:buChar char="-"/>
            </a:pPr>
            <a:r>
              <a:rPr lang="en-US" sz="2000" dirty="0"/>
              <a:t>Vocational routes onto a career in a defined profession</a:t>
            </a:r>
          </a:p>
          <a:p>
            <a:pPr marL="285750" indent="-285750">
              <a:buFontTx/>
              <a:buChar char="-"/>
            </a:pPr>
            <a:r>
              <a:rPr lang="en-US" sz="2000" dirty="0"/>
              <a:t>can also lead to a higher education degree </a:t>
            </a:r>
          </a:p>
          <a:p>
            <a:pPr marL="285750" indent="-285750">
              <a:buFontTx/>
              <a:buChar char="-"/>
            </a:pPr>
            <a:r>
              <a:rPr lang="en-US" sz="2000" dirty="0"/>
              <a:t>can be studied full time or part time</a:t>
            </a:r>
          </a:p>
          <a:p>
            <a:pPr marL="285750" indent="-285750">
              <a:buFontTx/>
              <a:buChar char="-"/>
            </a:pPr>
            <a:r>
              <a:rPr lang="en-US" sz="2000" dirty="0">
                <a:effectLst/>
                <a:ea typeface="Arial Unicode MS"/>
              </a:rPr>
              <a:t>easier access into employment</a:t>
            </a:r>
            <a:endParaRPr lang="en-GB" sz="2000" dirty="0"/>
          </a:p>
        </p:txBody>
      </p:sp>
    </p:spTree>
    <p:extLst>
      <p:ext uri="{BB962C8B-B14F-4D97-AF65-F5344CB8AC3E}">
        <p14:creationId xmlns:p14="http://schemas.microsoft.com/office/powerpoint/2010/main" val="3586432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8B4E1-C5E3-F14A-B45A-7ED265704A2C}"/>
              </a:ext>
            </a:extLst>
          </p:cNvPr>
          <p:cNvSpPr>
            <a:spLocks noGrp="1"/>
          </p:cNvSpPr>
          <p:nvPr>
            <p:ph type="title"/>
          </p:nvPr>
        </p:nvSpPr>
        <p:spPr/>
        <p:txBody>
          <a:bodyPr/>
          <a:lstStyle/>
          <a:p>
            <a:pPr marL="0" indent="0">
              <a:buNone/>
            </a:pPr>
            <a:r>
              <a:rPr lang="en-GB" sz="3200" dirty="0"/>
              <a:t>Which one should pupils choose?</a:t>
            </a:r>
          </a:p>
        </p:txBody>
      </p:sp>
      <p:sp>
        <p:nvSpPr>
          <p:cNvPr id="3" name="Content Placeholder 2">
            <a:extLst>
              <a:ext uri="{FF2B5EF4-FFF2-40B4-BE49-F238E27FC236}">
                <a16:creationId xmlns:a16="http://schemas.microsoft.com/office/drawing/2014/main" id="{A2DA83C0-8849-7D45-9181-C729163D3834}"/>
              </a:ext>
            </a:extLst>
          </p:cNvPr>
          <p:cNvSpPr>
            <a:spLocks noGrp="1"/>
          </p:cNvSpPr>
          <p:nvPr>
            <p:ph idx="1"/>
          </p:nvPr>
        </p:nvSpPr>
        <p:spPr/>
        <p:txBody>
          <a:bodyPr>
            <a:normAutofit/>
          </a:bodyPr>
          <a:lstStyle/>
          <a:p>
            <a:r>
              <a:rPr lang="en-US" sz="2400" dirty="0"/>
              <a:t>Neither route determines a pupil’s future employment and education</a:t>
            </a:r>
          </a:p>
          <a:p>
            <a:r>
              <a:rPr lang="en-US" sz="2400" dirty="0"/>
              <a:t>Pupils who opt for a vocational route can go into specialist higher education degrees via foundation degrees</a:t>
            </a:r>
          </a:p>
          <a:p>
            <a:r>
              <a:rPr lang="en-US" sz="2400" dirty="0"/>
              <a:t>Pupils who take the academic route sometimes choose to take a vocational training route after completing a degree.</a:t>
            </a:r>
          </a:p>
          <a:p>
            <a:pPr marL="0" indent="0">
              <a:buNone/>
            </a:pPr>
            <a:endParaRPr lang="en-US" sz="2400" dirty="0"/>
          </a:p>
          <a:p>
            <a:pPr marL="0" indent="0">
              <a:buNone/>
            </a:pPr>
            <a:r>
              <a:rPr lang="en-US" sz="2400" dirty="0"/>
              <a:t>Your role as the teacher is to empower the pupils to let them make the right choice. </a:t>
            </a:r>
            <a:endParaRPr lang="en-GB" sz="2400" dirty="0"/>
          </a:p>
        </p:txBody>
      </p:sp>
    </p:spTree>
    <p:extLst>
      <p:ext uri="{BB962C8B-B14F-4D97-AF65-F5344CB8AC3E}">
        <p14:creationId xmlns:p14="http://schemas.microsoft.com/office/powerpoint/2010/main" val="268641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8B4E1-C5E3-F14A-B45A-7ED265704A2C}"/>
              </a:ext>
            </a:extLst>
          </p:cNvPr>
          <p:cNvSpPr>
            <a:spLocks noGrp="1"/>
          </p:cNvSpPr>
          <p:nvPr>
            <p:ph type="title"/>
          </p:nvPr>
        </p:nvSpPr>
        <p:spPr/>
        <p:txBody>
          <a:bodyPr/>
          <a:lstStyle/>
          <a:p>
            <a:pPr marL="0" indent="0">
              <a:buNone/>
            </a:pPr>
            <a:r>
              <a:rPr lang="en-GB" sz="3200" dirty="0"/>
              <a:t>Level of study </a:t>
            </a:r>
          </a:p>
        </p:txBody>
      </p:sp>
      <p:sp>
        <p:nvSpPr>
          <p:cNvPr id="3" name="Content Placeholder 2">
            <a:extLst>
              <a:ext uri="{FF2B5EF4-FFF2-40B4-BE49-F238E27FC236}">
                <a16:creationId xmlns:a16="http://schemas.microsoft.com/office/drawing/2014/main" id="{A2DA83C0-8849-7D45-9181-C729163D3834}"/>
              </a:ext>
            </a:extLst>
          </p:cNvPr>
          <p:cNvSpPr>
            <a:spLocks noGrp="1"/>
          </p:cNvSpPr>
          <p:nvPr>
            <p:ph idx="1"/>
          </p:nvPr>
        </p:nvSpPr>
        <p:spPr/>
        <p:txBody>
          <a:bodyPr>
            <a:normAutofit fontScale="77500" lnSpcReduction="20000"/>
          </a:bodyPr>
          <a:lstStyle/>
          <a:p>
            <a:pPr marL="0" indent="0">
              <a:buNone/>
            </a:pPr>
            <a:r>
              <a:rPr lang="en-US" sz="2400" dirty="0"/>
              <a:t>Qualifications have a difficulty level. </a:t>
            </a:r>
          </a:p>
          <a:p>
            <a:pPr marL="0" indent="0">
              <a:buNone/>
            </a:pPr>
            <a:endParaRPr lang="en-US" sz="2400" dirty="0"/>
          </a:p>
          <a:p>
            <a:pPr marL="0" indent="0">
              <a:buNone/>
            </a:pPr>
            <a:r>
              <a:rPr lang="en-US" sz="2400" dirty="0"/>
              <a:t>There are nine different levels:</a:t>
            </a:r>
          </a:p>
          <a:p>
            <a:r>
              <a:rPr lang="en-US" sz="2400" dirty="0"/>
              <a:t>Entry Level and Level 1 through to 8. </a:t>
            </a:r>
          </a:p>
          <a:p>
            <a:r>
              <a:rPr lang="en-US" sz="2400" dirty="0"/>
              <a:t>Typically, pre-16 qualifications are Level 1 and Level 2 </a:t>
            </a:r>
          </a:p>
          <a:p>
            <a:r>
              <a:rPr lang="en-US" sz="2400" dirty="0"/>
              <a:t>Post-16 are Level 3 but some post-16 courses have to start at Level 1 or 2 (such as hair and beauty, construction and motor vehicle courses)</a:t>
            </a:r>
          </a:p>
          <a:p>
            <a:pPr marL="0" indent="0">
              <a:buNone/>
            </a:pPr>
            <a:endParaRPr lang="en-US" sz="2400" dirty="0"/>
          </a:p>
          <a:p>
            <a:pPr marL="0" indent="0">
              <a:buNone/>
            </a:pPr>
            <a:r>
              <a:rPr lang="en-US" sz="2400" dirty="0"/>
              <a:t>In the UK general education qualifications include:</a:t>
            </a:r>
          </a:p>
          <a:p>
            <a:r>
              <a:rPr lang="en-US" sz="2400" dirty="0"/>
              <a:t>the Welsh Baccalaureate intermediate;</a:t>
            </a:r>
          </a:p>
          <a:p>
            <a:r>
              <a:rPr lang="en-US" sz="2400" dirty="0"/>
              <a:t>the Scottish Credit Standard Grade 2 and the Scottish Vocational Qualification 2;</a:t>
            </a:r>
          </a:p>
          <a:p>
            <a:r>
              <a:rPr lang="en-US" sz="2400" dirty="0"/>
              <a:t>the General Certificate of Education (GCSE) in England and Wales </a:t>
            </a:r>
          </a:p>
          <a:p>
            <a:r>
              <a:rPr lang="en-US" sz="2400" dirty="0"/>
              <a:t>in Northern Ireland, the Council for the Curriculum, Examinations &amp; Assessment (CCEA) offer their own GCSEs and vocational Level 1 and 2 qualifications. </a:t>
            </a:r>
          </a:p>
        </p:txBody>
      </p:sp>
    </p:spTree>
    <p:extLst>
      <p:ext uri="{BB962C8B-B14F-4D97-AF65-F5344CB8AC3E}">
        <p14:creationId xmlns:p14="http://schemas.microsoft.com/office/powerpoint/2010/main" val="4163953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8B4E1-C5E3-F14A-B45A-7ED265704A2C}"/>
              </a:ext>
            </a:extLst>
          </p:cNvPr>
          <p:cNvSpPr>
            <a:spLocks noGrp="1"/>
          </p:cNvSpPr>
          <p:nvPr>
            <p:ph type="title"/>
          </p:nvPr>
        </p:nvSpPr>
        <p:spPr/>
        <p:txBody>
          <a:bodyPr>
            <a:normAutofit fontScale="90000"/>
          </a:bodyPr>
          <a:lstStyle/>
          <a:p>
            <a:pPr marL="0" indent="0">
              <a:buNone/>
            </a:pPr>
            <a:r>
              <a:rPr lang="en-GB" sz="3200" dirty="0"/>
              <a:t>What qualifications are there? </a:t>
            </a:r>
            <a:r>
              <a:rPr lang="en-GB" sz="3200" i="1" dirty="0"/>
              <a:t>(Englan</a:t>
            </a:r>
            <a:r>
              <a:rPr lang="en-GB" i="1" dirty="0"/>
              <a:t>d based) </a:t>
            </a:r>
            <a:r>
              <a:rPr lang="en-GB" sz="3200" i="1" dirty="0"/>
              <a:t> </a:t>
            </a:r>
          </a:p>
        </p:txBody>
      </p:sp>
      <p:sp>
        <p:nvSpPr>
          <p:cNvPr id="7" name="TextBox 6">
            <a:extLst>
              <a:ext uri="{FF2B5EF4-FFF2-40B4-BE49-F238E27FC236}">
                <a16:creationId xmlns:a16="http://schemas.microsoft.com/office/drawing/2014/main" id="{443FA233-E492-4598-8349-458B567472E4}"/>
              </a:ext>
            </a:extLst>
          </p:cNvPr>
          <p:cNvSpPr txBox="1"/>
          <p:nvPr/>
        </p:nvSpPr>
        <p:spPr>
          <a:xfrm>
            <a:off x="520162" y="1325567"/>
            <a:ext cx="3757370" cy="2585323"/>
          </a:xfrm>
          <a:prstGeom prst="rect">
            <a:avLst/>
          </a:prstGeom>
          <a:noFill/>
        </p:spPr>
        <p:txBody>
          <a:bodyPr wrap="square" rtlCol="0">
            <a:spAutoFit/>
          </a:bodyPr>
          <a:lstStyle/>
          <a:p>
            <a:r>
              <a:rPr lang="en-US" b="1" dirty="0"/>
              <a:t>Academic qualifications Post-16</a:t>
            </a:r>
          </a:p>
          <a:p>
            <a:pPr marL="285750" indent="-285750">
              <a:buFontTx/>
              <a:buChar char="-"/>
            </a:pPr>
            <a:r>
              <a:rPr lang="en-US" dirty="0">
                <a:ea typeface="Arial Unicode MS"/>
              </a:rPr>
              <a:t>c</a:t>
            </a:r>
            <a:r>
              <a:rPr lang="en-US" sz="1800" dirty="0">
                <a:effectLst/>
                <a:ea typeface="Arial Unicode MS"/>
              </a:rPr>
              <a:t>an be defined into three different routes; Product Design, Fashion and Textiles and Design Engineering</a:t>
            </a:r>
          </a:p>
          <a:p>
            <a:pPr marL="285750" indent="-285750">
              <a:buFontTx/>
              <a:buChar char="-"/>
            </a:pPr>
            <a:r>
              <a:rPr lang="en-US" sz="1800" dirty="0">
                <a:effectLst/>
                <a:ea typeface="Arial Unicode MS"/>
              </a:rPr>
              <a:t>Focus on technical principles and design and make principles</a:t>
            </a:r>
            <a:endParaRPr lang="en-US" dirty="0">
              <a:ea typeface="Arial Unicode MS"/>
            </a:endParaRPr>
          </a:p>
          <a:p>
            <a:pPr marL="285750" indent="-285750">
              <a:buFontTx/>
              <a:buChar char="-"/>
            </a:pPr>
            <a:r>
              <a:rPr lang="en-US" sz="1800" dirty="0">
                <a:effectLst/>
                <a:ea typeface="Arial Unicode MS"/>
              </a:rPr>
              <a:t>Complete a design, make and evaluate task</a:t>
            </a:r>
            <a:endParaRPr lang="en-US" b="1" dirty="0"/>
          </a:p>
        </p:txBody>
      </p:sp>
      <p:sp>
        <p:nvSpPr>
          <p:cNvPr id="9" name="TextBox 8">
            <a:extLst>
              <a:ext uri="{FF2B5EF4-FFF2-40B4-BE49-F238E27FC236}">
                <a16:creationId xmlns:a16="http://schemas.microsoft.com/office/drawing/2014/main" id="{805CD446-1241-4179-A733-CC0530DE3B5F}"/>
              </a:ext>
            </a:extLst>
          </p:cNvPr>
          <p:cNvSpPr txBox="1"/>
          <p:nvPr/>
        </p:nvSpPr>
        <p:spPr>
          <a:xfrm>
            <a:off x="4417017" y="1330732"/>
            <a:ext cx="4572000" cy="3416320"/>
          </a:xfrm>
          <a:prstGeom prst="rect">
            <a:avLst/>
          </a:prstGeom>
          <a:noFill/>
        </p:spPr>
        <p:txBody>
          <a:bodyPr wrap="square">
            <a:spAutoFit/>
          </a:bodyPr>
          <a:lstStyle/>
          <a:p>
            <a:r>
              <a:rPr lang="en-US" b="1" dirty="0"/>
              <a:t>Technical Levels – </a:t>
            </a:r>
            <a:r>
              <a:rPr lang="en-US" b="1" i="1" dirty="0"/>
              <a:t>a new Post-16 qualification</a:t>
            </a:r>
          </a:p>
          <a:p>
            <a:pPr marL="285750" indent="-285750">
              <a:buFontTx/>
              <a:buChar char="-"/>
            </a:pPr>
            <a:r>
              <a:rPr lang="en-US" sz="1800" dirty="0">
                <a:effectLst/>
                <a:ea typeface="Arial Unicode MS"/>
              </a:rPr>
              <a:t>Level 2 Technical Certificate, Level 3 Technical Award or a Level 3 Applied General Qualification.</a:t>
            </a:r>
          </a:p>
          <a:p>
            <a:pPr marL="285750" indent="-285750">
              <a:buFontTx/>
              <a:buChar char="-"/>
            </a:pPr>
            <a:r>
              <a:rPr lang="en-US" dirty="0"/>
              <a:t>No Design and Technology but some cross over subjects </a:t>
            </a:r>
          </a:p>
          <a:p>
            <a:pPr marL="285750" indent="-285750">
              <a:buFontTx/>
              <a:buChar char="-"/>
            </a:pPr>
            <a:r>
              <a:rPr lang="en-US" sz="1800" dirty="0">
                <a:effectLst/>
                <a:ea typeface="Arial Unicode MS"/>
              </a:rPr>
              <a:t>Some courses have specific teaching requirements</a:t>
            </a:r>
            <a:r>
              <a:rPr lang="en-US" dirty="0"/>
              <a:t> </a:t>
            </a:r>
          </a:p>
          <a:p>
            <a:pPr marL="285750" indent="-285750">
              <a:buFontTx/>
              <a:buChar char="-"/>
            </a:pPr>
            <a:r>
              <a:rPr lang="en-US" dirty="0">
                <a:ea typeface="Arial Unicode MS"/>
              </a:rPr>
              <a:t>C</a:t>
            </a:r>
            <a:r>
              <a:rPr lang="en-US" sz="1800" dirty="0">
                <a:effectLst/>
                <a:ea typeface="Arial Unicode MS"/>
              </a:rPr>
              <a:t>an be studied at Level 2 or 3 full time, or alongside academic qualifications, or as part of a wider curriculum.</a:t>
            </a:r>
            <a:endParaRPr lang="en-US" dirty="0"/>
          </a:p>
          <a:p>
            <a:endParaRPr lang="en-US" dirty="0"/>
          </a:p>
        </p:txBody>
      </p:sp>
      <p:sp>
        <p:nvSpPr>
          <p:cNvPr id="15" name="TextBox 14">
            <a:extLst>
              <a:ext uri="{FF2B5EF4-FFF2-40B4-BE49-F238E27FC236}">
                <a16:creationId xmlns:a16="http://schemas.microsoft.com/office/drawing/2014/main" id="{77773687-228E-4880-A429-026E18E051DF}"/>
              </a:ext>
            </a:extLst>
          </p:cNvPr>
          <p:cNvSpPr txBox="1"/>
          <p:nvPr/>
        </p:nvSpPr>
        <p:spPr>
          <a:xfrm>
            <a:off x="4572000" y="4747052"/>
            <a:ext cx="4572000" cy="2031325"/>
          </a:xfrm>
          <a:prstGeom prst="rect">
            <a:avLst/>
          </a:prstGeom>
          <a:noFill/>
        </p:spPr>
        <p:txBody>
          <a:bodyPr wrap="square">
            <a:spAutoFit/>
          </a:bodyPr>
          <a:lstStyle/>
          <a:p>
            <a:r>
              <a:rPr lang="en-US" b="1" dirty="0"/>
              <a:t>Apprenticeship based </a:t>
            </a:r>
          </a:p>
          <a:p>
            <a:pPr marL="285750" indent="-285750">
              <a:buFontTx/>
              <a:buChar char="-"/>
            </a:pPr>
            <a:r>
              <a:rPr lang="en-US" sz="1800" dirty="0">
                <a:effectLst/>
                <a:ea typeface="Arial Unicode MS"/>
              </a:rPr>
              <a:t>Combine practical learning with a theory element</a:t>
            </a:r>
          </a:p>
          <a:p>
            <a:pPr marL="285750" indent="-285750">
              <a:buFontTx/>
              <a:buChar char="-"/>
            </a:pPr>
            <a:r>
              <a:rPr lang="en-US" sz="1800" dirty="0">
                <a:effectLst/>
                <a:ea typeface="Arial Unicode MS"/>
              </a:rPr>
              <a:t>‘on the job’ training </a:t>
            </a:r>
          </a:p>
          <a:p>
            <a:pPr marL="285750" indent="-285750">
              <a:buFontTx/>
              <a:buChar char="-"/>
            </a:pPr>
            <a:r>
              <a:rPr lang="en-US" sz="1800" dirty="0">
                <a:effectLst/>
                <a:ea typeface="Arial Unicode MS"/>
              </a:rPr>
              <a:t>Experience the application of the theory </a:t>
            </a:r>
          </a:p>
          <a:p>
            <a:pPr marL="285750" indent="-285750">
              <a:buFontTx/>
              <a:buChar char="-"/>
            </a:pPr>
            <a:endParaRPr lang="en-US" sz="1800" dirty="0">
              <a:effectLst/>
              <a:ea typeface="Arial Unicode MS"/>
            </a:endParaRPr>
          </a:p>
          <a:p>
            <a:endParaRPr lang="en-US" dirty="0"/>
          </a:p>
        </p:txBody>
      </p:sp>
      <p:sp>
        <p:nvSpPr>
          <p:cNvPr id="17" name="TextBox 16">
            <a:extLst>
              <a:ext uri="{FF2B5EF4-FFF2-40B4-BE49-F238E27FC236}">
                <a16:creationId xmlns:a16="http://schemas.microsoft.com/office/drawing/2014/main" id="{4EE27195-03D4-40D9-A51F-B18D076C0F7E}"/>
              </a:ext>
            </a:extLst>
          </p:cNvPr>
          <p:cNvSpPr txBox="1"/>
          <p:nvPr/>
        </p:nvSpPr>
        <p:spPr>
          <a:xfrm>
            <a:off x="520162" y="4747052"/>
            <a:ext cx="3757370" cy="1477328"/>
          </a:xfrm>
          <a:prstGeom prst="rect">
            <a:avLst/>
          </a:prstGeom>
          <a:noFill/>
        </p:spPr>
        <p:txBody>
          <a:bodyPr wrap="square">
            <a:spAutoFit/>
          </a:bodyPr>
          <a:lstStyle/>
          <a:p>
            <a:r>
              <a:rPr lang="en-US" b="1" dirty="0"/>
              <a:t>Post-18 qualifications</a:t>
            </a:r>
            <a:r>
              <a:rPr lang="en-US" dirty="0"/>
              <a:t> </a:t>
            </a:r>
          </a:p>
          <a:p>
            <a:pPr marL="285750" indent="-285750">
              <a:buFontTx/>
              <a:buChar char="-"/>
            </a:pPr>
            <a:r>
              <a:rPr lang="en-US" sz="1800" dirty="0">
                <a:effectLst/>
                <a:ea typeface="Arial Unicode MS"/>
              </a:rPr>
              <a:t>Higher National Certificate (HNC) </a:t>
            </a:r>
          </a:p>
          <a:p>
            <a:pPr marL="285750" indent="-285750">
              <a:buFontTx/>
              <a:buChar char="-"/>
            </a:pPr>
            <a:r>
              <a:rPr lang="en-US" sz="1800" dirty="0">
                <a:effectLst/>
                <a:ea typeface="Arial Unicode MS"/>
              </a:rPr>
              <a:t>Higher National Diploma (HND) </a:t>
            </a:r>
          </a:p>
          <a:p>
            <a:pPr marL="285750" indent="-285750">
              <a:buFontTx/>
              <a:buChar char="-"/>
            </a:pPr>
            <a:r>
              <a:rPr lang="en-US" sz="1800" dirty="0">
                <a:effectLst/>
                <a:ea typeface="Arial Unicode MS"/>
              </a:rPr>
              <a:t>Degree  </a:t>
            </a:r>
          </a:p>
          <a:p>
            <a:endParaRPr lang="en-US" dirty="0"/>
          </a:p>
        </p:txBody>
      </p:sp>
    </p:spTree>
    <p:extLst>
      <p:ext uri="{BB962C8B-B14F-4D97-AF65-F5344CB8AC3E}">
        <p14:creationId xmlns:p14="http://schemas.microsoft.com/office/powerpoint/2010/main" val="3918526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9D777-A521-8E42-8224-F882AD7EE000}"/>
              </a:ext>
            </a:extLst>
          </p:cNvPr>
          <p:cNvSpPr>
            <a:spLocks noGrp="1"/>
          </p:cNvSpPr>
          <p:nvPr>
            <p:ph type="title"/>
          </p:nvPr>
        </p:nvSpPr>
        <p:spPr/>
        <p:txBody>
          <a:bodyPr/>
          <a:lstStyle/>
          <a:p>
            <a:r>
              <a:rPr lang="en-GB" dirty="0"/>
              <a:t>Big Question 2</a:t>
            </a:r>
          </a:p>
        </p:txBody>
      </p:sp>
      <p:sp>
        <p:nvSpPr>
          <p:cNvPr id="4" name="Content Placeholder 3">
            <a:extLst>
              <a:ext uri="{FF2B5EF4-FFF2-40B4-BE49-F238E27FC236}">
                <a16:creationId xmlns:a16="http://schemas.microsoft.com/office/drawing/2014/main" id="{4996D846-C499-5B4C-83B5-A3B5F1B67D24}"/>
              </a:ext>
            </a:extLst>
          </p:cNvPr>
          <p:cNvSpPr>
            <a:spLocks noGrp="1"/>
          </p:cNvSpPr>
          <p:nvPr>
            <p:ph idx="1"/>
          </p:nvPr>
        </p:nvSpPr>
        <p:spPr/>
        <p:txBody>
          <a:bodyPr anchor="b">
            <a:normAutofit lnSpcReduction="10000"/>
          </a:bodyPr>
          <a:lstStyle/>
          <a:p>
            <a:pPr marL="0" indent="0" algn="r">
              <a:buNone/>
            </a:pPr>
            <a:r>
              <a:rPr lang="en-GB" sz="8800" dirty="0"/>
              <a:t>How do you prepare for post- 16 D&amp;T education? </a:t>
            </a:r>
          </a:p>
        </p:txBody>
      </p:sp>
    </p:spTree>
    <p:extLst>
      <p:ext uri="{BB962C8B-B14F-4D97-AF65-F5344CB8AC3E}">
        <p14:creationId xmlns:p14="http://schemas.microsoft.com/office/powerpoint/2010/main" val="2507616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8B4E1-C5E3-F14A-B45A-7ED265704A2C}"/>
              </a:ext>
            </a:extLst>
          </p:cNvPr>
          <p:cNvSpPr>
            <a:spLocks noGrp="1"/>
          </p:cNvSpPr>
          <p:nvPr>
            <p:ph type="title"/>
          </p:nvPr>
        </p:nvSpPr>
        <p:spPr/>
        <p:txBody>
          <a:bodyPr/>
          <a:lstStyle/>
          <a:p>
            <a:r>
              <a:rPr lang="en-GB" dirty="0"/>
              <a:t>Making the leap from pre-16 to post-16</a:t>
            </a:r>
          </a:p>
        </p:txBody>
      </p:sp>
      <p:sp>
        <p:nvSpPr>
          <p:cNvPr id="3" name="Content Placeholder 2">
            <a:extLst>
              <a:ext uri="{FF2B5EF4-FFF2-40B4-BE49-F238E27FC236}">
                <a16:creationId xmlns:a16="http://schemas.microsoft.com/office/drawing/2014/main" id="{A2DA83C0-8849-7D45-9181-C729163D3834}"/>
              </a:ext>
            </a:extLst>
          </p:cNvPr>
          <p:cNvSpPr>
            <a:spLocks noGrp="1"/>
          </p:cNvSpPr>
          <p:nvPr>
            <p:ph idx="1"/>
          </p:nvPr>
        </p:nvSpPr>
        <p:spPr/>
        <p:txBody>
          <a:bodyPr>
            <a:normAutofit/>
          </a:bodyPr>
          <a:lstStyle/>
          <a:p>
            <a:pPr marL="0" indent="0">
              <a:buNone/>
            </a:pPr>
            <a:r>
              <a:rPr lang="en-US" sz="2400" dirty="0"/>
              <a:t>During KS4: </a:t>
            </a:r>
          </a:p>
          <a:p>
            <a:pPr>
              <a:buFontTx/>
              <a:buChar char="-"/>
            </a:pPr>
            <a:r>
              <a:rPr lang="en-US" sz="2400" dirty="0"/>
              <a:t>Pupils will discover creative skills and imagination in applying the iterative process</a:t>
            </a:r>
          </a:p>
          <a:p>
            <a:pPr>
              <a:buFontTx/>
              <a:buChar char="-"/>
            </a:pPr>
            <a:r>
              <a:rPr lang="en-US" sz="2400" dirty="0"/>
              <a:t>They begin to explore how to solve real world problems, through considering the needs of others. </a:t>
            </a:r>
          </a:p>
          <a:p>
            <a:pPr marL="0" indent="0">
              <a:buNone/>
            </a:pPr>
            <a:endParaRPr lang="en-US" sz="2400" dirty="0"/>
          </a:p>
          <a:p>
            <a:pPr marL="0" indent="0">
              <a:buNone/>
            </a:pPr>
            <a:r>
              <a:rPr lang="en-US" sz="2400" dirty="0"/>
              <a:t>The next step: </a:t>
            </a:r>
          </a:p>
          <a:p>
            <a:pPr>
              <a:buFontTx/>
              <a:buChar char="-"/>
            </a:pPr>
            <a:r>
              <a:rPr lang="en-US" sz="2400" dirty="0"/>
              <a:t>Pupils become more independent and show, through the iterative design process, their confidence in making decisions and justifying their design development. </a:t>
            </a:r>
          </a:p>
          <a:p>
            <a:pPr marL="0" indent="0">
              <a:buNone/>
            </a:pPr>
            <a:endParaRPr lang="en-GB" sz="2400" dirty="0"/>
          </a:p>
        </p:txBody>
      </p:sp>
    </p:spTree>
    <p:extLst>
      <p:ext uri="{BB962C8B-B14F-4D97-AF65-F5344CB8AC3E}">
        <p14:creationId xmlns:p14="http://schemas.microsoft.com/office/powerpoint/2010/main" val="3415703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8B4E1-C5E3-F14A-B45A-7ED265704A2C}"/>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A2DA83C0-8849-7D45-9181-C729163D3834}"/>
              </a:ext>
            </a:extLst>
          </p:cNvPr>
          <p:cNvSpPr>
            <a:spLocks noGrp="1"/>
          </p:cNvSpPr>
          <p:nvPr>
            <p:ph idx="1"/>
          </p:nvPr>
        </p:nvSpPr>
        <p:spPr/>
        <p:txBody>
          <a:bodyPr>
            <a:normAutofit/>
          </a:bodyPr>
          <a:lstStyle/>
          <a:p>
            <a:pPr marL="0" indent="0">
              <a:buNone/>
            </a:pPr>
            <a:r>
              <a:rPr lang="en-US" sz="2400" dirty="0"/>
              <a:t>There is no one ‘correct’ route for a pupil to take and we need to acknowledge how transferable design and technology skills are</a:t>
            </a:r>
          </a:p>
          <a:p>
            <a:pPr marL="0" indent="0">
              <a:buNone/>
            </a:pPr>
            <a:endParaRPr lang="en-US" sz="2400" dirty="0"/>
          </a:p>
          <a:p>
            <a:pPr marL="0" indent="0">
              <a:buNone/>
            </a:pPr>
            <a:r>
              <a:rPr lang="en-US" sz="2400" dirty="0"/>
              <a:t>As a teacher, you may need to be prepared to teach across a range of subjects linked to design and technology post-16. </a:t>
            </a:r>
          </a:p>
          <a:p>
            <a:pPr marL="0" indent="0">
              <a:buNone/>
            </a:pPr>
            <a:endParaRPr lang="en-US" sz="2400" dirty="0"/>
          </a:p>
          <a:p>
            <a:pPr marL="0" indent="0">
              <a:buNone/>
            </a:pPr>
            <a:r>
              <a:rPr lang="en-US" sz="2400" dirty="0"/>
              <a:t>Being honest with pupils and explaining what different options are available will empower them to make the right decision. </a:t>
            </a:r>
          </a:p>
        </p:txBody>
      </p:sp>
    </p:spTree>
    <p:extLst>
      <p:ext uri="{BB962C8B-B14F-4D97-AF65-F5344CB8AC3E}">
        <p14:creationId xmlns:p14="http://schemas.microsoft.com/office/powerpoint/2010/main" val="1006333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8B4E1-C5E3-F14A-B45A-7ED265704A2C}"/>
              </a:ext>
            </a:extLst>
          </p:cNvPr>
          <p:cNvSpPr>
            <a:spLocks noGrp="1"/>
          </p:cNvSpPr>
          <p:nvPr>
            <p:ph type="title"/>
          </p:nvPr>
        </p:nvSpPr>
        <p:spPr/>
        <p:txBody>
          <a:bodyPr/>
          <a:lstStyle/>
          <a:p>
            <a:r>
              <a:rPr lang="en-GB" dirty="0"/>
              <a:t>References </a:t>
            </a:r>
          </a:p>
        </p:txBody>
      </p:sp>
      <p:sp>
        <p:nvSpPr>
          <p:cNvPr id="3" name="Content Placeholder 2">
            <a:extLst>
              <a:ext uri="{FF2B5EF4-FFF2-40B4-BE49-F238E27FC236}">
                <a16:creationId xmlns:a16="http://schemas.microsoft.com/office/drawing/2014/main" id="{A2DA83C0-8849-7D45-9181-C729163D3834}"/>
              </a:ext>
            </a:extLst>
          </p:cNvPr>
          <p:cNvSpPr>
            <a:spLocks noGrp="1"/>
          </p:cNvSpPr>
          <p:nvPr>
            <p:ph idx="1"/>
          </p:nvPr>
        </p:nvSpPr>
        <p:spPr/>
        <p:txBody>
          <a:bodyPr>
            <a:normAutofit/>
          </a:bodyPr>
          <a:lstStyle/>
          <a:p>
            <a:pPr marL="0" indent="0">
              <a:buNone/>
            </a:pPr>
            <a:r>
              <a:rPr lang="en-US" sz="2000" dirty="0" err="1"/>
              <a:t>Proudlove</a:t>
            </a:r>
            <a:r>
              <a:rPr lang="en-US" sz="2000" dirty="0"/>
              <a:t>, R.K. (2009). </a:t>
            </a:r>
            <a:r>
              <a:rPr lang="en-US" sz="2000" i="1" dirty="0"/>
              <a:t>The Science and Technology of Foods </a:t>
            </a:r>
            <a:r>
              <a:rPr lang="en-US" sz="2000" dirty="0"/>
              <a:t>(Fifth Edition), Odiham, Hampshire: Forbes Publications.</a:t>
            </a:r>
          </a:p>
          <a:p>
            <a:pPr marL="0" indent="0">
              <a:buNone/>
            </a:pPr>
            <a:endParaRPr lang="en-US" sz="2000" dirty="0"/>
          </a:p>
          <a:p>
            <a:pPr marL="0" indent="0">
              <a:buNone/>
            </a:pPr>
            <a:r>
              <a:rPr lang="en-US" sz="2000" dirty="0"/>
              <a:t>Rutland, M. (2019). The academic study of food in the English curriculum for pupils aged 16-18 years: its demise and future prospects. In PATT 37 - Conference 2019: </a:t>
            </a:r>
            <a:r>
              <a:rPr lang="en-US" sz="2000" i="1" dirty="0"/>
              <a:t>Developing a knowledge economy through technology and engineering education</a:t>
            </a:r>
            <a:r>
              <a:rPr lang="en-US" sz="2000" dirty="0"/>
              <a:t>, pp 373- 380. University of Malta, June 3-6th 2019. </a:t>
            </a:r>
          </a:p>
          <a:p>
            <a:pPr marL="0" indent="0">
              <a:buNone/>
            </a:pPr>
            <a:endParaRPr lang="en-US" sz="2000" dirty="0"/>
          </a:p>
        </p:txBody>
      </p:sp>
    </p:spTree>
    <p:extLst>
      <p:ext uri="{BB962C8B-B14F-4D97-AF65-F5344CB8AC3E}">
        <p14:creationId xmlns:p14="http://schemas.microsoft.com/office/powerpoint/2010/main" val="755783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426B3-C830-9648-8583-8A6CDE869544}"/>
              </a:ext>
            </a:extLst>
          </p:cNvPr>
          <p:cNvSpPr>
            <a:spLocks noGrp="1"/>
          </p:cNvSpPr>
          <p:nvPr>
            <p:ph type="title"/>
          </p:nvPr>
        </p:nvSpPr>
        <p:spPr/>
        <p:txBody>
          <a:bodyPr/>
          <a:lstStyle/>
          <a:p>
            <a:r>
              <a:rPr lang="en-US" dirty="0"/>
              <a:t>About the author</a:t>
            </a:r>
          </a:p>
        </p:txBody>
      </p:sp>
      <p:sp>
        <p:nvSpPr>
          <p:cNvPr id="3" name="Content Placeholder 2">
            <a:extLst>
              <a:ext uri="{FF2B5EF4-FFF2-40B4-BE49-F238E27FC236}">
                <a16:creationId xmlns:a16="http://schemas.microsoft.com/office/drawing/2014/main" id="{EBCD21DD-B919-2B41-9B3A-9F16B5B4E25C}"/>
              </a:ext>
            </a:extLst>
          </p:cNvPr>
          <p:cNvSpPr>
            <a:spLocks noGrp="1"/>
          </p:cNvSpPr>
          <p:nvPr>
            <p:ph sz="half" idx="1"/>
          </p:nvPr>
        </p:nvSpPr>
        <p:spPr>
          <a:xfrm>
            <a:off x="602498" y="1352963"/>
            <a:ext cx="3886200" cy="4824000"/>
          </a:xfrm>
        </p:spPr>
        <p:txBody>
          <a:bodyPr>
            <a:normAutofit fontScale="85000" lnSpcReduction="10000"/>
          </a:bodyPr>
          <a:lstStyle/>
          <a:p>
            <a:pPr marL="0" indent="0">
              <a:buNone/>
            </a:pPr>
            <a:r>
              <a:rPr lang="en-US" sz="2400" dirty="0"/>
              <a:t>Rebecca Topps is currently second in department for a large design and technology faculty, with over 12 years experience of teaching a variety of different subjects, mainly </a:t>
            </a:r>
            <a:r>
              <a:rPr lang="en-US" sz="2400" dirty="0" err="1"/>
              <a:t>specialising</a:t>
            </a:r>
            <a:r>
              <a:rPr lang="en-US" sz="2400" dirty="0"/>
              <a:t> in Product Design.  Through GCSE to A Level, Rebecca has taught a range of qualifications both academically and vocational. Rebecca has won both a Design and Technology Association Award and an Institute of Engineering Technology Award for her teaching and is currently shortlisted for the National Teaching Awards Secondary Teacher of the Year 2020. She continues to develop her research by currently completing her Masters in Education. </a:t>
            </a:r>
          </a:p>
        </p:txBody>
      </p:sp>
      <p:sp>
        <p:nvSpPr>
          <p:cNvPr id="4" name="Content Placeholder 3">
            <a:extLst>
              <a:ext uri="{FF2B5EF4-FFF2-40B4-BE49-F238E27FC236}">
                <a16:creationId xmlns:a16="http://schemas.microsoft.com/office/drawing/2014/main" id="{B379BE0D-4C78-DC47-85E7-9116BD9ADEFD}"/>
              </a:ext>
            </a:extLst>
          </p:cNvPr>
          <p:cNvSpPr>
            <a:spLocks noGrp="1"/>
          </p:cNvSpPr>
          <p:nvPr>
            <p:ph sz="half" idx="2"/>
          </p:nvPr>
        </p:nvSpPr>
        <p:spPr/>
        <p:txBody>
          <a:bodyPr>
            <a:noAutofit/>
          </a:bodyPr>
          <a:lstStyle/>
          <a:p>
            <a:pPr marL="0" indent="0">
              <a:lnSpc>
                <a:spcPct val="114000"/>
              </a:lnSpc>
              <a:buNone/>
              <a:tabLst>
                <a:tab pos="971550" algn="l"/>
              </a:tabLst>
            </a:pPr>
            <a:r>
              <a:rPr lang="en-GB" sz="1600" b="1" dirty="0"/>
              <a:t>Email: </a:t>
            </a:r>
            <a:r>
              <a:rPr lang="en-GB" sz="1600" dirty="0">
                <a:hlinkClick r:id="rId2"/>
              </a:rPr>
              <a:t>Rebecca.topps@st-georges-academy.org</a:t>
            </a:r>
            <a:r>
              <a:rPr lang="en-GB" sz="1600" dirty="0"/>
              <a:t> </a:t>
            </a:r>
            <a:r>
              <a:rPr lang="en-GB" sz="1600" b="1" dirty="0"/>
              <a:t>	</a:t>
            </a:r>
          </a:p>
          <a:p>
            <a:pPr marL="0" indent="0">
              <a:lnSpc>
                <a:spcPct val="114000"/>
              </a:lnSpc>
              <a:buNone/>
              <a:tabLst>
                <a:tab pos="971550" algn="l"/>
              </a:tabLst>
            </a:pPr>
            <a:r>
              <a:rPr lang="en-GB" sz="1600" b="1" dirty="0"/>
              <a:t>LinkedIn: </a:t>
            </a:r>
            <a:r>
              <a:rPr lang="en-GB" sz="1600" dirty="0">
                <a:hlinkClick r:id="rId3"/>
              </a:rPr>
              <a:t>Rebecca-topps-326293109</a:t>
            </a:r>
            <a:r>
              <a:rPr lang="en-GB" sz="1600" dirty="0"/>
              <a:t>	</a:t>
            </a:r>
          </a:p>
          <a:p>
            <a:pPr marL="0" indent="0">
              <a:lnSpc>
                <a:spcPct val="114000"/>
              </a:lnSpc>
              <a:buNone/>
              <a:tabLst>
                <a:tab pos="971550" algn="l"/>
              </a:tabLst>
            </a:pPr>
            <a:r>
              <a:rPr lang="en-GB" sz="1600" b="1" dirty="0"/>
              <a:t>Twitter:</a:t>
            </a:r>
            <a:r>
              <a:rPr lang="en-GB" sz="1600" dirty="0"/>
              <a:t> </a:t>
            </a:r>
            <a:r>
              <a:rPr lang="en-GB" sz="1600" dirty="0">
                <a:hlinkClick r:id="rId4"/>
              </a:rPr>
              <a:t>@designteacher2 </a:t>
            </a:r>
            <a:r>
              <a:rPr lang="en-GB" sz="1600" dirty="0"/>
              <a:t>	</a:t>
            </a:r>
          </a:p>
        </p:txBody>
      </p:sp>
    </p:spTree>
    <p:extLst>
      <p:ext uri="{BB962C8B-B14F-4D97-AF65-F5344CB8AC3E}">
        <p14:creationId xmlns:p14="http://schemas.microsoft.com/office/powerpoint/2010/main" val="2081146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D7A0-5046-4D41-9426-834CA41B8EAF}"/>
              </a:ext>
            </a:extLst>
          </p:cNvPr>
          <p:cNvSpPr>
            <a:spLocks noGrp="1"/>
          </p:cNvSpPr>
          <p:nvPr>
            <p:ph type="title"/>
          </p:nvPr>
        </p:nvSpPr>
        <p:spPr/>
        <p:txBody>
          <a:bodyPr/>
          <a:lstStyle/>
          <a:p>
            <a:r>
              <a:rPr lang="en-GB" dirty="0"/>
              <a:t>About the book</a:t>
            </a:r>
          </a:p>
        </p:txBody>
      </p:sp>
      <p:sp>
        <p:nvSpPr>
          <p:cNvPr id="4" name="Content Placeholder 3">
            <a:extLst>
              <a:ext uri="{FF2B5EF4-FFF2-40B4-BE49-F238E27FC236}">
                <a16:creationId xmlns:a16="http://schemas.microsoft.com/office/drawing/2014/main" id="{93318F48-55ED-6F48-ACD8-BD838492C275}"/>
              </a:ext>
            </a:extLst>
          </p:cNvPr>
          <p:cNvSpPr>
            <a:spLocks noGrp="1"/>
          </p:cNvSpPr>
          <p:nvPr>
            <p:ph sz="half" idx="1"/>
          </p:nvPr>
        </p:nvSpPr>
        <p:spPr/>
        <p:txBody>
          <a:bodyPr>
            <a:normAutofit/>
          </a:bodyPr>
          <a:lstStyle/>
          <a:p>
            <a:pPr marL="0" indent="0">
              <a:buNone/>
            </a:pPr>
            <a:r>
              <a:rPr lang="en-GB" sz="2400" b="1" dirty="0"/>
              <a:t>Editor: </a:t>
            </a:r>
            <a:r>
              <a:rPr lang="en-GB" sz="2400" dirty="0">
                <a:hlinkClick r:id="rId3"/>
              </a:rPr>
              <a:t>Dr Alison Hardy</a:t>
            </a:r>
            <a:endParaRPr lang="en-GB" sz="2400" dirty="0"/>
          </a:p>
          <a:p>
            <a:pPr marL="0" indent="0">
              <a:buNone/>
            </a:pPr>
            <a:endParaRPr lang="en-GB" sz="2400" dirty="0"/>
          </a:p>
          <a:p>
            <a:pPr marL="0" indent="0">
              <a:buNone/>
            </a:pPr>
            <a:r>
              <a:rPr lang="en-GB" sz="2400" dirty="0"/>
              <a:t>Click </a:t>
            </a:r>
            <a:r>
              <a:rPr lang="en-GB" sz="2400" b="1" dirty="0">
                <a:hlinkClick r:id="rId4"/>
              </a:rPr>
              <a:t>here</a:t>
            </a:r>
            <a:r>
              <a:rPr lang="en-GB" sz="2400" dirty="0"/>
              <a:t>,</a:t>
            </a:r>
            <a:r>
              <a:rPr lang="en-GB" sz="2400" b="1" dirty="0"/>
              <a:t> </a:t>
            </a:r>
            <a:r>
              <a:rPr lang="en-GB" sz="2400" dirty="0"/>
              <a:t>or scan the QR code below, for the full contents or to order the book…</a:t>
            </a:r>
          </a:p>
          <a:p>
            <a:pPr marL="0" indent="0">
              <a:buNone/>
            </a:pPr>
            <a:endParaRPr lang="en-GB" sz="1100" dirty="0"/>
          </a:p>
        </p:txBody>
      </p:sp>
      <p:pic>
        <p:nvPicPr>
          <p:cNvPr id="6" name="Content Placeholder 5">
            <a:extLst>
              <a:ext uri="{FF2B5EF4-FFF2-40B4-BE49-F238E27FC236}">
                <a16:creationId xmlns:a16="http://schemas.microsoft.com/office/drawing/2014/main" id="{C280856E-F689-834A-8A86-017E559FC095}"/>
              </a:ext>
            </a:extLst>
          </p:cNvPr>
          <p:cNvPicPr>
            <a:picLocks noGrp="1" noChangeAspect="1"/>
          </p:cNvPicPr>
          <p:nvPr>
            <p:ph sz="half" idx="2"/>
          </p:nvPr>
        </p:nvPicPr>
        <p:blipFill>
          <a:blip r:embed="rId5"/>
          <a:stretch>
            <a:fillRect/>
          </a:stretch>
        </p:blipFill>
        <p:spPr>
          <a:xfrm>
            <a:off x="4872792" y="1371600"/>
            <a:ext cx="3398915" cy="4805363"/>
          </a:xfrm>
          <a:prstGeom prst="rect">
            <a:avLst/>
          </a:prstGeom>
          <a:ln>
            <a:noFill/>
          </a:ln>
          <a:effectLst>
            <a:outerShdw blurRad="292100" dist="139700" dir="2700000" algn="tl" rotWithShape="0">
              <a:srgbClr val="333333">
                <a:alpha val="65000"/>
              </a:srgbClr>
            </a:outerShdw>
          </a:effectLst>
        </p:spPr>
      </p:pic>
      <p:pic>
        <p:nvPicPr>
          <p:cNvPr id="9" name="Picture 8" descr="Scan for information about the book...">
            <a:extLst>
              <a:ext uri="{FF2B5EF4-FFF2-40B4-BE49-F238E27FC236}">
                <a16:creationId xmlns:a16="http://schemas.microsoft.com/office/drawing/2014/main" id="{C55D2AD4-3F00-6949-BAC3-1E2A2385C2C7}"/>
              </a:ext>
              <a:ext uri="{C183D7F6-B498-43B3-948B-1728B52AA6E4}">
                <adec:decorative xmlns:adec="http://schemas.microsoft.com/office/drawing/2017/decorative" val="0"/>
              </a:ext>
            </a:extLst>
          </p:cNvPr>
          <p:cNvPicPr>
            <a:picLocks noChangeAspect="1"/>
          </p:cNvPicPr>
          <p:nvPr/>
        </p:nvPicPr>
        <p:blipFill>
          <a:blip r:embed="rId6"/>
          <a:stretch>
            <a:fillRect/>
          </a:stretch>
        </p:blipFill>
        <p:spPr>
          <a:xfrm>
            <a:off x="628650" y="3783599"/>
            <a:ext cx="1905000" cy="1905000"/>
          </a:xfrm>
          <a:prstGeom prst="rect">
            <a:avLst/>
          </a:prstGeom>
        </p:spPr>
      </p:pic>
    </p:spTree>
    <p:extLst>
      <p:ext uri="{BB962C8B-B14F-4D97-AF65-F5344CB8AC3E}">
        <p14:creationId xmlns:p14="http://schemas.microsoft.com/office/powerpoint/2010/main" val="2104086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13 Key Pedagogied in Design and Technology" id="{0D63EDE8-BFDE-2941-A31C-E3248D3426A0}" vid="{318B9732-69D1-CE4A-8485-F3E4049561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2901</TotalTime>
  <Words>1136</Words>
  <Application>Microsoft Macintosh PowerPoint</Application>
  <PresentationFormat>On-screen Show (4:3)</PresentationFormat>
  <Paragraphs>107</Paragraphs>
  <Slides>14</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Chapter 18 Transitions after secondary design and technology</vt:lpstr>
      <vt:lpstr>Objectives</vt:lpstr>
      <vt:lpstr>Introduction</vt:lpstr>
      <vt:lpstr>Big Question 1</vt:lpstr>
      <vt:lpstr>Post-16 routes: Academic and Vocational  </vt:lpstr>
      <vt:lpstr>Which one should pupils choose?</vt:lpstr>
      <vt:lpstr>Level of study </vt:lpstr>
      <vt:lpstr>What qualifications are there? (England based)  </vt:lpstr>
      <vt:lpstr>Big Question 2</vt:lpstr>
      <vt:lpstr>Making the leap from pre-16 to post-16</vt:lpstr>
      <vt:lpstr>Summary</vt:lpstr>
      <vt:lpstr>References </vt:lpstr>
      <vt:lpstr>About the author</vt:lpstr>
      <vt:lpstr>About the book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13 Key Pedagogies</dc:title>
  <dc:subject/>
  <dc:creator>McLain, Matt</dc:creator>
  <cp:keywords/>
  <dc:description/>
  <cp:lastModifiedBy>Hardy, Alison</cp:lastModifiedBy>
  <cp:revision>61</cp:revision>
  <dcterms:created xsi:type="dcterms:W3CDTF">2020-06-15T16:25:51Z</dcterms:created>
  <dcterms:modified xsi:type="dcterms:W3CDTF">2020-08-28T17:18:30Z</dcterms:modified>
  <cp:category/>
</cp:coreProperties>
</file>